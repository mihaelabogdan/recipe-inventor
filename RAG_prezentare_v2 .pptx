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88825" cy="6858000"/>
  <p:notesSz cx="6858000" cy="12188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34A0955-E9B5-481D-AD88-635D7637EED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D273C4-7309-4B14-8747-84874D8C2ED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EA6C0D-35DF-4E54-AA15-F5A1FB5DD11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85EFA8-B7F8-4353-83EC-934CFE352F5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C52E55-31AB-4657-9594-ECB929F2A0C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3DD664-170F-4A2D-9D87-A691FE9DF77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133D18-8EEC-4D84-8692-CD30481F2C1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A282A7-A13D-4DCE-9115-4F4913B1F9D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90D18B-4907-4B0B-B562-E852C223E00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8ED467-B9D0-4C67-89F8-F2B31524959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EFD3B4-D706-45DA-ACEF-F5F068AF991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077B48-02A9-4276-BEA5-C48235E3B14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BA4E49-668A-4457-B290-89A1146C10A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F47363-1714-4AD9-B997-1258FF30C3A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811671-06C3-4914-854A-E43C6064DB3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4F873A-F306-4948-B3F4-BA7895B8F45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7C7A84-80C6-43D3-B9B2-7B0AFDAB78E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D236BFF-E969-44EF-845C-7F3F8CC66C0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524388-7165-4605-B057-7E66989295A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F85AE5-A084-472C-B285-840FB7EF394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D62A4B-294E-4916-ABED-B46343523DC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2CAE64-CFD6-4E34-8ED0-B3E12124F1A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AD4E91-33CC-4334-9596-9F9E1FA53A5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BC280F-C4EE-4AC5-881E-A2B79556B9C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246328-487D-41FB-A67B-BA2BE89E079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E7A346-157C-4C24-84EA-FFF891250AB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4EBB95-6A3D-4F55-AFBC-D1378AF23C4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7DE244-2EA9-46C5-88B4-0DE47555DD4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BF27BA-5EEF-4C51-A42C-DF9DDE46A70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10104120" y="1371600"/>
            <a:ext cx="109080" cy="109080"/>
          </a:xfrm>
          <a:prstGeom prst="ellipse">
            <a:avLst/>
          </a:prstGeom>
          <a:solidFill>
            <a:srgbClr val="C8843C"/>
          </a:solidFill>
          <a:ln w="9525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972800" y="1051560"/>
            <a:ext cx="109080" cy="109080"/>
          </a:xfrm>
          <a:prstGeom prst="ellipse">
            <a:avLst/>
          </a:prstGeom>
          <a:solidFill>
            <a:srgbClr val="2C3038"/>
          </a:solidFill>
          <a:ln w="9525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475720" y="1874520"/>
            <a:ext cx="109080" cy="109080"/>
          </a:xfrm>
          <a:prstGeom prst="ellipse">
            <a:avLst/>
          </a:prstGeom>
          <a:solidFill>
            <a:srgbClr val="2C3038"/>
          </a:solidFill>
          <a:ln w="9525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0698480" y="2286000"/>
            <a:ext cx="109080" cy="109080"/>
          </a:xfrm>
          <a:prstGeom prst="ellipse">
            <a:avLst/>
          </a:prstGeom>
          <a:solidFill>
            <a:srgbClr val="C8843C"/>
          </a:solidFill>
          <a:ln w="9525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11384280" y="2834640"/>
            <a:ext cx="109080" cy="109080"/>
          </a:xfrm>
          <a:prstGeom prst="ellipse">
            <a:avLst/>
          </a:prstGeom>
          <a:solidFill>
            <a:srgbClr val="2C3038"/>
          </a:solidFill>
          <a:ln w="9525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0195560" y="2697480"/>
            <a:ext cx="109080" cy="109080"/>
          </a:xfrm>
          <a:prstGeom prst="ellipse">
            <a:avLst/>
          </a:prstGeom>
          <a:solidFill>
            <a:srgbClr val="2C3038"/>
          </a:solidFill>
          <a:ln w="9525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 flipV="1">
            <a:off x="10158840" y="1106280"/>
            <a:ext cx="868680" cy="32004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1027520" y="1106280"/>
            <a:ext cx="502920" cy="82296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 flipH="1">
            <a:off x="10753200" y="1929240"/>
            <a:ext cx="777240" cy="41148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10158840" y="1426320"/>
            <a:ext cx="91440" cy="132588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10753200" y="2340720"/>
            <a:ext cx="685800" cy="54864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 flipH="1">
            <a:off x="11439000" y="1929240"/>
            <a:ext cx="91440" cy="96012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777240" y="1755720"/>
            <a:ext cx="547920" cy="1944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22520" y="1965960"/>
            <a:ext cx="8228880" cy="155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RAG</a:t>
            </a:r>
            <a:endParaRPr lang="en-US" sz="1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77240" y="3611880"/>
            <a:ext cx="100576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i="1" strike="noStrike" spc="-1">
                <a:solidFill>
                  <a:srgbClr val="B7AF9C"/>
                </a:solidFill>
                <a:latin typeface="DM Serif Display"/>
                <a:ea typeface="DM Serif Display"/>
              </a:rPr>
              <a:t>Retrieval-Augmented Generation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77240" y="4434840"/>
            <a:ext cx="87775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9C2B2"/>
                </a:solidFill>
                <a:latin typeface="Inter"/>
                <a:ea typeface="Inter"/>
              </a:rPr>
              <a:t>Cum construim contextul de care are nevoie un model ca să răspundă corect, arhitectura, fiecare componentă în parte, compromisurile, tehnicile avansate și cum știm că funcționează.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777240" y="5806440"/>
            <a:ext cx="10633680" cy="12240"/>
          </a:xfrm>
          <a:prstGeom prst="rect">
            <a:avLst/>
          </a:prstGeom>
          <a:solidFill>
            <a:srgbClr val="3A3E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777240" y="598932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950" b="0" strike="noStrike" spc="-1" dirty="0">
                <a:solidFill>
                  <a:srgbClr val="FFFFFF"/>
                </a:solidFill>
                <a:latin typeface="Arial"/>
              </a:rPr>
              <a:t>Ungureanu Mihai Emanuel</a:t>
            </a:r>
            <a:br>
              <a:rPr lang="en-US" sz="950" b="0" strike="noStrike" spc="-1" dirty="0">
                <a:solidFill>
                  <a:srgbClr val="FFFFFF"/>
                </a:solidFill>
                <a:latin typeface="Arial"/>
              </a:rPr>
            </a:br>
            <a:r>
              <a:rPr lang="en-US" sz="950" b="0" strike="noStrike" spc="-1" dirty="0">
                <a:solidFill>
                  <a:srgbClr val="FFFFFF"/>
                </a:solidFill>
                <a:latin typeface="Arial"/>
              </a:rPr>
              <a:t>Zeitouni Aila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00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IDEEA CENTRALĂ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777240" y="1965960"/>
            <a:ext cx="10423440" cy="20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5200" b="0" strike="noStrike" spc="-1" dirty="0" err="1">
                <a:solidFill>
                  <a:srgbClr val="17181C"/>
                </a:solidFill>
                <a:latin typeface="DM Serif Display"/>
                <a:ea typeface="DM Serif Display"/>
              </a:rPr>
              <a:t>Modelul</a:t>
            </a:r>
            <a:r>
              <a:rPr lang="en-US" sz="5200" b="0" strike="noStrike" spc="-1" dirty="0">
                <a:solidFill>
                  <a:srgbClr val="17181C"/>
                </a:solidFill>
                <a:latin typeface="DM Serif Display"/>
                <a:ea typeface="DM Serif Display"/>
              </a:rPr>
              <a:t> nu </a:t>
            </a:r>
            <a:r>
              <a:rPr lang="en-US" sz="5200" b="0" strike="noStrike" spc="-1" dirty="0" err="1">
                <a:solidFill>
                  <a:srgbClr val="17181C"/>
                </a:solidFill>
                <a:latin typeface="DM Serif Display"/>
                <a:ea typeface="DM Serif Display"/>
              </a:rPr>
              <a:t>este</a:t>
            </a:r>
            <a:r>
              <a:rPr lang="en-US" sz="5200" b="0" strike="noStrike" spc="-1" dirty="0">
                <a:solidFill>
                  <a:srgbClr val="17181C"/>
                </a:solidFill>
                <a:latin typeface="DM Serif Display"/>
                <a:ea typeface="DM Serif Display"/>
              </a:rPr>
              <a:t> </a:t>
            </a:r>
            <a:r>
              <a:rPr lang="en-US" sz="5200" strike="noStrike" spc="-1" dirty="0" err="1">
                <a:solidFill>
                  <a:srgbClr val="17181C"/>
                </a:solidFill>
                <a:latin typeface="DM Serif Display"/>
                <a:ea typeface="DM Serif Display"/>
              </a:rPr>
              <a:t>blocajul</a:t>
            </a:r>
            <a:r>
              <a:rPr lang="en-US" sz="5200" b="0" strike="noStrike" spc="-1" dirty="0">
                <a:solidFill>
                  <a:srgbClr val="17181C"/>
                </a:solidFill>
                <a:latin typeface="DM Serif Display"/>
                <a:ea typeface="DM Serif Display"/>
              </a:rPr>
              <a:t>.</a:t>
            </a:r>
            <a:endParaRPr lang="en-US" sz="5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5200" b="0" strike="noStrike" spc="-1" dirty="0" err="1">
                <a:solidFill>
                  <a:srgbClr val="A9692A"/>
                </a:solidFill>
                <a:latin typeface="DM Serif Display"/>
                <a:ea typeface="DM Serif Display"/>
              </a:rPr>
              <a:t>Contextul</a:t>
            </a:r>
            <a:r>
              <a:rPr lang="en-US" sz="5200" b="0" strike="noStrike" spc="-1" dirty="0">
                <a:solidFill>
                  <a:srgbClr val="A9692A"/>
                </a:solidFill>
                <a:latin typeface="DM Serif Display"/>
                <a:ea typeface="DM Serif Display"/>
              </a:rPr>
              <a:t> </a:t>
            </a:r>
            <a:r>
              <a:rPr lang="en-US" sz="5200" b="0" strike="noStrike" spc="-1" dirty="0" err="1">
                <a:solidFill>
                  <a:srgbClr val="A9692A"/>
                </a:solidFill>
                <a:latin typeface="DM Serif Display"/>
                <a:ea typeface="DM Serif Display"/>
              </a:rPr>
              <a:t>este</a:t>
            </a:r>
            <a:r>
              <a:rPr lang="en-US" sz="5200" b="0" strike="noStrike" spc="-1" dirty="0">
                <a:solidFill>
                  <a:srgbClr val="A9692A"/>
                </a:solidFill>
                <a:latin typeface="DM Serif Display"/>
                <a:ea typeface="DM Serif Display"/>
              </a:rPr>
              <a:t>.</a:t>
            </a:r>
            <a:endParaRPr lang="en-US" sz="5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777240" y="4160520"/>
            <a:ext cx="2010960" cy="2232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777240" y="4434840"/>
            <a:ext cx="896040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Un LLM bun, pus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să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răspundă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fără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informația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potrivită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în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față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,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va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greși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cu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încredere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 RAG nu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schimbă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modelul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,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schimbă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ce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vede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modelul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în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momentul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răspunsului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Toată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prezentarea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este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despre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o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singură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5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întrebare</a:t>
            </a:r>
            <a:r>
              <a:rPr lang="en-US" sz="15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: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777240" y="544068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i="1" strike="noStrike" spc="-1" dirty="0">
                <a:solidFill>
                  <a:srgbClr val="1F3A5F"/>
                </a:solidFill>
                <a:latin typeface="DM Serif Display"/>
                <a:ea typeface="DM Serif Display"/>
              </a:rPr>
              <a:t>„Cum </a:t>
            </a:r>
            <a:r>
              <a:rPr lang="en-US" sz="1900" b="0" i="1" strike="noStrike" spc="-1" dirty="0" err="1">
                <a:solidFill>
                  <a:srgbClr val="1F3A5F"/>
                </a:solidFill>
                <a:latin typeface="DM Serif Display"/>
                <a:ea typeface="DM Serif Display"/>
              </a:rPr>
              <a:t>aducem</a:t>
            </a:r>
            <a:r>
              <a:rPr lang="en-US" sz="1900" b="0" i="1" strike="noStrike" spc="-1" dirty="0">
                <a:solidFill>
                  <a:srgbClr val="1F3A5F"/>
                </a:solidFill>
                <a:latin typeface="DM Serif Display"/>
                <a:ea typeface="DM Serif Display"/>
              </a:rPr>
              <a:t> fix </a:t>
            </a:r>
            <a:r>
              <a:rPr lang="en-US" sz="1900" b="0" i="1" strike="noStrike" spc="-1" dirty="0" err="1">
                <a:solidFill>
                  <a:srgbClr val="1F3A5F"/>
                </a:solidFill>
                <a:latin typeface="DM Serif Display"/>
                <a:ea typeface="DM Serif Display"/>
              </a:rPr>
              <a:t>informația</a:t>
            </a:r>
            <a:r>
              <a:rPr lang="en-US" sz="1900" b="0" i="1" strike="noStrike" spc="-1" dirty="0">
                <a:solidFill>
                  <a:srgbClr val="1F3A5F"/>
                </a:solidFill>
                <a:latin typeface="DM Serif Display"/>
                <a:ea typeface="DM Serif Display"/>
              </a:rPr>
              <a:t> </a:t>
            </a:r>
            <a:r>
              <a:rPr lang="en-US" sz="1900" b="0" i="1" strike="noStrike" spc="-1" dirty="0" err="1">
                <a:solidFill>
                  <a:srgbClr val="1F3A5F"/>
                </a:solidFill>
                <a:latin typeface="DM Serif Display"/>
                <a:ea typeface="DM Serif Display"/>
              </a:rPr>
              <a:t>necesară</a:t>
            </a:r>
            <a:r>
              <a:rPr lang="en-US" sz="1900" b="0" i="1" strike="noStrike" spc="-1" dirty="0">
                <a:solidFill>
                  <a:srgbClr val="1F3A5F"/>
                </a:solidFill>
                <a:latin typeface="DM Serif Display"/>
                <a:ea typeface="DM Serif Display"/>
              </a:rPr>
              <a:t>, exact </a:t>
            </a:r>
            <a:r>
              <a:rPr lang="en-US" sz="1900" b="0" i="1" strike="noStrike" spc="-1" dirty="0" err="1">
                <a:solidFill>
                  <a:srgbClr val="1F3A5F"/>
                </a:solidFill>
                <a:latin typeface="DM Serif Display"/>
                <a:ea typeface="DM Serif Display"/>
              </a:rPr>
              <a:t>când</a:t>
            </a:r>
            <a:r>
              <a:rPr lang="en-US" sz="1900" b="0" i="1" strike="noStrike" spc="-1" dirty="0">
                <a:solidFill>
                  <a:srgbClr val="1F3A5F"/>
                </a:solidFill>
                <a:latin typeface="DM Serif Display"/>
                <a:ea typeface="DM Serif Display"/>
              </a:rPr>
              <a:t> </a:t>
            </a:r>
            <a:r>
              <a:rPr lang="en-US" sz="1900" b="0" i="1" strike="noStrike" spc="-1" dirty="0" err="1">
                <a:solidFill>
                  <a:srgbClr val="1F3A5F"/>
                </a:solidFill>
                <a:latin typeface="DM Serif Display"/>
                <a:ea typeface="DM Serif Display"/>
              </a:rPr>
              <a:t>trebuie</a:t>
            </a:r>
            <a:r>
              <a:rPr lang="en-US" sz="1900" b="0" i="1" strike="noStrike" spc="-1" dirty="0">
                <a:solidFill>
                  <a:srgbClr val="1F3A5F"/>
                </a:solidFill>
                <a:latin typeface="DM Serif Display"/>
                <a:ea typeface="DM Serif Display"/>
              </a:rPr>
              <a:t>, </a:t>
            </a:r>
            <a:r>
              <a:rPr lang="en-US" sz="1900" b="0" i="1" strike="noStrike" spc="-1" dirty="0" err="1">
                <a:solidFill>
                  <a:srgbClr val="1F3A5F"/>
                </a:solidFill>
                <a:latin typeface="DM Serif Display"/>
                <a:ea typeface="DM Serif Display"/>
              </a:rPr>
              <a:t>în</a:t>
            </a:r>
            <a:r>
              <a:rPr lang="en-US" sz="1900" b="0" i="1" strike="noStrike" spc="-1" dirty="0">
                <a:solidFill>
                  <a:srgbClr val="1F3A5F"/>
                </a:solidFill>
                <a:latin typeface="DM Serif Display"/>
                <a:ea typeface="DM Serif Display"/>
              </a:rPr>
              <a:t> </a:t>
            </a:r>
            <a:r>
              <a:rPr lang="en-US" sz="1900" b="0" i="1" strike="noStrike" spc="-1" dirty="0" err="1">
                <a:solidFill>
                  <a:srgbClr val="1F3A5F"/>
                </a:solidFill>
                <a:latin typeface="DM Serif Display"/>
                <a:ea typeface="DM Serif Display"/>
              </a:rPr>
              <a:t>contextul</a:t>
            </a:r>
            <a:r>
              <a:rPr lang="en-US" sz="1900" b="0" i="1" strike="noStrike" spc="-1" dirty="0">
                <a:solidFill>
                  <a:srgbClr val="1F3A5F"/>
                </a:solidFill>
                <a:latin typeface="DM Serif Display"/>
                <a:ea typeface="DM Serif Display"/>
              </a:rPr>
              <a:t> </a:t>
            </a:r>
            <a:r>
              <a:rPr lang="en-US" sz="1900" b="0" i="1" strike="noStrike" spc="-1" dirty="0" err="1">
                <a:solidFill>
                  <a:srgbClr val="1F3A5F"/>
                </a:solidFill>
                <a:latin typeface="DM Serif Display"/>
                <a:ea typeface="DM Serif Display"/>
              </a:rPr>
              <a:t>disponibil</a:t>
            </a:r>
            <a:r>
              <a:rPr lang="en-US" sz="1900" b="0" i="1" strike="noStrike" spc="-1" dirty="0">
                <a:solidFill>
                  <a:srgbClr val="1F3A5F"/>
                </a:solidFill>
                <a:latin typeface="DM Serif Display"/>
                <a:ea typeface="DM Serif Display"/>
              </a:rPr>
              <a:t>?”</a:t>
            </a:r>
            <a:endParaRPr lang="en-US" sz="1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02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01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HARTA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Patru mișcări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Pornim de la problemă, demontăm pipeline-ul componentă cu componentă, apoi tehnicile avansate, cum îl evaluăm și unde merge mai departe.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777240" y="2286000"/>
            <a:ext cx="2452320" cy="3291120"/>
          </a:xfrm>
          <a:prstGeom prst="roundRect">
            <a:avLst>
              <a:gd name="adj" fmla="val 2237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777240" y="2514600"/>
            <a:ext cx="24523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strike="noStrike" spc="-1">
                <a:solidFill>
                  <a:srgbClr val="1F3A5F"/>
                </a:solidFill>
                <a:latin typeface="DM Serif Display"/>
                <a:ea typeface="DM Serif Display"/>
              </a:rPr>
              <a:t>I</a:t>
            </a:r>
            <a:endParaRPr lang="en-US" sz="5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1051560" y="3611880"/>
            <a:ext cx="190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1051560" y="3767400"/>
            <a:ext cx="1903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Problema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1051560" y="4297680"/>
            <a:ext cx="190368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8A8270"/>
                </a:solidFill>
                <a:latin typeface="Inter"/>
                <a:ea typeface="Inter"/>
              </a:rPr>
              <a:t>De ce memoria modelului nu e de ajuns. RAG față de fine-tuning și context lung.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3504600" y="2286000"/>
            <a:ext cx="2452320" cy="3291120"/>
          </a:xfrm>
          <a:prstGeom prst="roundRect">
            <a:avLst>
              <a:gd name="adj" fmla="val 2237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3504600" y="2514600"/>
            <a:ext cx="24523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strike="noStrike" spc="-1">
                <a:solidFill>
                  <a:srgbClr val="C8843C"/>
                </a:solidFill>
                <a:latin typeface="DM Serif Display"/>
                <a:ea typeface="DM Serif Display"/>
              </a:rPr>
              <a:t>II</a:t>
            </a:r>
            <a:endParaRPr lang="en-US" sz="5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1"/>
          <p:cNvSpPr/>
          <p:nvPr/>
        </p:nvSpPr>
        <p:spPr>
          <a:xfrm>
            <a:off x="3778920" y="3611880"/>
            <a:ext cx="190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3778920" y="3767400"/>
            <a:ext cx="1903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Pipeline-ul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3778920" y="4297680"/>
            <a:ext cx="190368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8A8270"/>
                </a:solidFill>
                <a:latin typeface="Inter"/>
                <a:ea typeface="Inter"/>
              </a:rPr>
              <a:t>Cele opt piese: ingestie, chunking, embeddings, stocare, căutare, reranking, generare.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6231600" y="2286000"/>
            <a:ext cx="2452320" cy="3291120"/>
          </a:xfrm>
          <a:prstGeom prst="roundRect">
            <a:avLst>
              <a:gd name="adj" fmla="val 2237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6231600" y="2514600"/>
            <a:ext cx="24523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strike="noStrike" spc="-1">
                <a:solidFill>
                  <a:srgbClr val="1F3A5F"/>
                </a:solidFill>
                <a:latin typeface="DM Serif Display"/>
                <a:ea typeface="DM Serif Display"/>
              </a:rPr>
              <a:t>III</a:t>
            </a:r>
            <a:endParaRPr lang="en-US" sz="5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6"/>
          <p:cNvSpPr/>
          <p:nvPr/>
        </p:nvSpPr>
        <p:spPr>
          <a:xfrm>
            <a:off x="6505920" y="3611880"/>
            <a:ext cx="190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6505920" y="3767400"/>
            <a:ext cx="1903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Mai adânc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6505920" y="4297680"/>
            <a:ext cx="190368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8A8270"/>
                </a:solidFill>
                <a:latin typeface="Inter"/>
                <a:ea typeface="Inter"/>
              </a:rPr>
              <a:t>Tehnici avansate de recuperare, cum evaluăm, greșeli frecvente și un exemplu pas cu pas.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9"/>
          <p:cNvSpPr/>
          <p:nvPr/>
        </p:nvSpPr>
        <p:spPr>
          <a:xfrm>
            <a:off x="8958960" y="2286000"/>
            <a:ext cx="2452320" cy="3291120"/>
          </a:xfrm>
          <a:prstGeom prst="roundRect">
            <a:avLst>
              <a:gd name="adj" fmla="val 2237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8958960" y="2514600"/>
            <a:ext cx="24523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strike="noStrike" spc="-1">
                <a:solidFill>
                  <a:srgbClr val="1F3A5F"/>
                </a:solidFill>
                <a:latin typeface="DM Serif Display"/>
                <a:ea typeface="DM Serif Display"/>
              </a:rPr>
              <a:t>IV</a:t>
            </a:r>
            <a:endParaRPr lang="en-US" sz="5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21"/>
          <p:cNvSpPr/>
          <p:nvPr/>
        </p:nvSpPr>
        <p:spPr>
          <a:xfrm>
            <a:off x="9233280" y="3611880"/>
            <a:ext cx="190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2"/>
          <p:cNvSpPr/>
          <p:nvPr/>
        </p:nvSpPr>
        <p:spPr>
          <a:xfrm>
            <a:off x="9233280" y="3767400"/>
            <a:ext cx="1903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Frontiera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9233280" y="4297680"/>
            <a:ext cx="190368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8A8270"/>
                </a:solidFill>
                <a:latin typeface="Inter"/>
                <a:ea typeface="Inter"/>
              </a:rPr>
              <a:t>De la căutare statică la recuperare agentică, RAG ca primă treaptă.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4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5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03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12188160" cy="5400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7982640" y="1097280"/>
            <a:ext cx="3839760" cy="41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0" b="0" strike="noStrike" spc="-1">
                <a:solidFill>
                  <a:srgbClr val="21242B"/>
                </a:solidFill>
                <a:latin typeface="DM Serif Display"/>
                <a:ea typeface="DM Serif Display"/>
              </a:rPr>
              <a:t>I</a:t>
            </a:r>
            <a:endParaRPr lang="en-US" sz="30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777240" y="246888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395">
                <a:solidFill>
                  <a:srgbClr val="C8843C"/>
                </a:solidFill>
                <a:latin typeface="IBM Plex Mono"/>
                <a:ea typeface="IBM Plex Mono"/>
              </a:rPr>
              <a:t>PARTEA I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731520" y="2834640"/>
            <a:ext cx="786312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52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Problema</a:t>
            </a:r>
            <a:endParaRPr lang="en-US" sz="5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777240" y="4343400"/>
            <a:ext cx="667440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B7AF9C"/>
                </a:solidFill>
                <a:latin typeface="Inter"/>
                <a:ea typeface="Inter"/>
              </a:rPr>
              <a:t>Un model lingvistic știe doar ce a comprimat în parametri la antrenare. Iată de ce asta nu ajunge, și ce alegi când nu ajunge.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777240" y="2286000"/>
            <a:ext cx="1828080" cy="1944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B7AF9C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FFFFFF"/>
                </a:solidFill>
                <a:latin typeface="IBM Plex Mono"/>
                <a:ea typeface="IBM Plex Mono"/>
              </a:rPr>
              <a:t>04</a:t>
            </a:r>
            <a:r>
              <a:rPr lang="en-US" sz="850" b="0" strike="noStrike" spc="94">
                <a:solidFill>
                  <a:srgbClr val="B7AF9C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PROBLEMA · MEMORIA PARAMETRICĂ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Ce este, de fapt, memoria unui model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Cunoștințele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unui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LLM </a:t>
            </a:r>
            <a:r>
              <a:rPr lang="en-US" sz="1450" spc="-1" dirty="0">
                <a:solidFill>
                  <a:srgbClr val="5C6B7A"/>
                </a:solidFill>
                <a:latin typeface="Inter"/>
                <a:ea typeface="Inter"/>
              </a:rPr>
              <a:t>sunt </a:t>
            </a:r>
            <a:r>
              <a:rPr lang="en-US" sz="1450" spc="-1" dirty="0" err="1">
                <a:solidFill>
                  <a:srgbClr val="5C6B7A"/>
                </a:solidFill>
                <a:latin typeface="Inter"/>
                <a:ea typeface="Inter"/>
              </a:rPr>
              <a:t>stocate</a:t>
            </a:r>
            <a:r>
              <a:rPr lang="en-US" sz="1450" spc="-1" dirty="0">
                <a:solidFill>
                  <a:srgbClr val="5C6B7A"/>
                </a:solidFill>
                <a:latin typeface="Inter"/>
                <a:ea typeface="Inter"/>
              </a:rPr>
              <a:t> in </a:t>
            </a:r>
            <a:r>
              <a:rPr lang="en-US" sz="1450" spc="-1" dirty="0" err="1">
                <a:solidFill>
                  <a:srgbClr val="5C6B7A"/>
                </a:solidFill>
                <a:latin typeface="Inter"/>
                <a:ea typeface="Inter"/>
              </a:rPr>
              <a:t>parametrii</a:t>
            </a:r>
            <a:r>
              <a:rPr lang="en-US" sz="1450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spc="-1" dirty="0" err="1">
                <a:solidFill>
                  <a:srgbClr val="5C6B7A"/>
                </a:solidFill>
                <a:latin typeface="Inter"/>
                <a:ea typeface="Inter"/>
              </a:rPr>
              <a:t>sai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lui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, o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reprezentare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comprimată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a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datelor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de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antrenare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 Are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trei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proprietăți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incomode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</a:t>
            </a:r>
            <a:endParaRPr lang="en-US" sz="1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777240" y="2331720"/>
            <a:ext cx="3361320" cy="3199680"/>
          </a:xfrm>
          <a:prstGeom prst="roundRect">
            <a:avLst>
              <a:gd name="adj" fmla="val 171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777240" y="2331720"/>
            <a:ext cx="45000" cy="319968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1069920" y="2606040"/>
            <a:ext cx="2812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F3A5F"/>
                </a:solidFill>
                <a:latin typeface="IBM Plex Mono"/>
                <a:ea typeface="IBM Plex Mono"/>
              </a:rPr>
              <a:t>01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1069920" y="3108960"/>
            <a:ext cx="28126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Înghețată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1069920" y="3931920"/>
            <a:ext cx="277596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Se oprește la data antrenării. Tot ce s-a întâmplat după, produse, prețuri, evenimente, pur și simplu nu există pentru model.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4413600" y="2331720"/>
            <a:ext cx="3361320" cy="3199680"/>
          </a:xfrm>
          <a:prstGeom prst="roundRect">
            <a:avLst>
              <a:gd name="adj" fmla="val 171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4413600" y="2331720"/>
            <a:ext cx="45000" cy="3199680"/>
          </a:xfrm>
          <a:prstGeom prst="rect">
            <a:avLst/>
          </a:prstGeom>
          <a:solidFill>
            <a:srgbClr val="A969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4706280" y="2606040"/>
            <a:ext cx="2812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A9692A"/>
                </a:solidFill>
                <a:latin typeface="IBM Plex Mono"/>
                <a:ea typeface="IBM Plex Mono"/>
              </a:rPr>
              <a:t>02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4706280" y="3108960"/>
            <a:ext cx="28126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Cu pierderi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4706280" y="3931920"/>
            <a:ext cx="277596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Antrenarea comprimă terabytes în miliarde de parametri. Faptele rare sau de nișă se pierd sau se amestecă între ele.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8049600" y="2331720"/>
            <a:ext cx="3361320" cy="3199680"/>
          </a:xfrm>
          <a:prstGeom prst="roundRect">
            <a:avLst>
              <a:gd name="adj" fmla="val 171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8049600" y="2331720"/>
            <a:ext cx="45000" cy="3199680"/>
          </a:xfrm>
          <a:prstGeom prst="rect">
            <a:avLst/>
          </a:prstGeom>
          <a:solidFill>
            <a:srgbClr val="3E6B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8342280" y="2606040"/>
            <a:ext cx="2812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3E6B5A"/>
                </a:solidFill>
                <a:latin typeface="IBM Plex Mono"/>
                <a:ea typeface="IBM Plex Mono"/>
              </a:rPr>
              <a:t>03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8342280" y="3108960"/>
            <a:ext cx="28126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Neverificabilă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8342280" y="3931920"/>
            <a:ext cx="277596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Răspunsul iese din ponderi, nu dintr-o sursă. Nu poți cere „de unde știi asta?” și nu poți audita lanțul.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05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PROBLEMA · HALUCINAȚIA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Anatomia unei halucinații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Un model nu „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minte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”, nu are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noțiunea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de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adevăr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Prezice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următorul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token cel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mai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probabil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Când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nu </a:t>
            </a:r>
            <a:r>
              <a:rPr lang="en-US" sz="1450" spc="-1" dirty="0" err="1">
                <a:solidFill>
                  <a:srgbClr val="5C6B7A"/>
                </a:solidFill>
                <a:latin typeface="Inter"/>
                <a:ea typeface="Inter"/>
              </a:rPr>
              <a:t>cunoaste</a:t>
            </a:r>
            <a:r>
              <a:rPr lang="en-US" sz="1450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spc="-1" dirty="0" err="1">
                <a:solidFill>
                  <a:srgbClr val="5C6B7A"/>
                </a:solidFill>
                <a:latin typeface="Inter"/>
                <a:ea typeface="Inter"/>
              </a:rPr>
              <a:t>informatia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, </a:t>
            </a:r>
            <a:r>
              <a:rPr lang="en-US" sz="1450" spc="-1" dirty="0" err="1">
                <a:solidFill>
                  <a:srgbClr val="5C6B7A"/>
                </a:solidFill>
                <a:latin typeface="Inter"/>
                <a:ea typeface="Inter"/>
              </a:rPr>
              <a:t>genereaza</a:t>
            </a:r>
            <a:r>
              <a:rPr lang="en-US" sz="1450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spc="-1" dirty="0" err="1">
                <a:solidFill>
                  <a:srgbClr val="5C6B7A"/>
                </a:solidFill>
                <a:latin typeface="Inter"/>
                <a:ea typeface="Inter"/>
              </a:rPr>
              <a:t>cea</a:t>
            </a:r>
            <a:r>
              <a:rPr lang="en-US" sz="1450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spc="-1" dirty="0" err="1">
                <a:solidFill>
                  <a:srgbClr val="5C6B7A"/>
                </a:solidFill>
                <a:latin typeface="Inter"/>
                <a:ea typeface="Inter"/>
              </a:rPr>
              <a:t>mai</a:t>
            </a:r>
            <a:r>
              <a:rPr lang="en-US" sz="1450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spc="-1" dirty="0" err="1">
                <a:solidFill>
                  <a:srgbClr val="5C6B7A"/>
                </a:solidFill>
                <a:latin typeface="Inter"/>
                <a:ea typeface="Inter"/>
              </a:rPr>
              <a:t>probabila</a:t>
            </a:r>
            <a:r>
              <a:rPr lang="en-US" sz="1450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spc="-1" dirty="0" err="1">
                <a:solidFill>
                  <a:srgbClr val="5C6B7A"/>
                </a:solidFill>
                <a:latin typeface="Inter"/>
                <a:ea typeface="Inter"/>
              </a:rPr>
              <a:t>continuare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</a:t>
            </a:r>
            <a:endParaRPr lang="en-US" sz="1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777240" y="2377440"/>
            <a:ext cx="5022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strike="noStrike" spc="-1">
                <a:solidFill>
                  <a:srgbClr val="C8843C"/>
                </a:solidFill>
                <a:latin typeface="DM Serif Display"/>
                <a:ea typeface="DM Serif Display"/>
              </a:rPr>
              <a:t>1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1417320" y="241416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17181C"/>
                </a:solidFill>
                <a:latin typeface="Inter"/>
                <a:ea typeface="Inter"/>
              </a:rPr>
              <a:t>Întrebarea cere un fapt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1417320" y="2797920"/>
            <a:ext cx="50284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...pe care </a:t>
            </a:r>
            <a:r>
              <a:rPr lang="en-US" sz="12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modelul</a:t>
            </a:r>
            <a:r>
              <a:rPr lang="en-US" sz="12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nu l-a </a:t>
            </a:r>
            <a:r>
              <a:rPr lang="en-US" sz="12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văzut</a:t>
            </a:r>
            <a:r>
              <a:rPr lang="en-US" sz="12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2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clar</a:t>
            </a:r>
            <a:r>
              <a:rPr lang="en-US" sz="12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la </a:t>
            </a:r>
            <a:r>
              <a:rPr lang="en-US" sz="12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antrenare</a:t>
            </a:r>
            <a:r>
              <a:rPr lang="en-US" sz="12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(</a:t>
            </a:r>
            <a:r>
              <a:rPr lang="en-US" sz="12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prea</a:t>
            </a:r>
            <a:r>
              <a:rPr lang="en-US" sz="12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2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rar</a:t>
            </a:r>
            <a:r>
              <a:rPr lang="en-US" sz="12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, </a:t>
            </a:r>
            <a:r>
              <a:rPr lang="en-US" sz="12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prea</a:t>
            </a:r>
            <a:r>
              <a:rPr lang="en-US" sz="12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nou, </a:t>
            </a:r>
            <a:r>
              <a:rPr lang="en-US" sz="12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prea</a:t>
            </a:r>
            <a:r>
              <a:rPr lang="en-US" sz="12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specific).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1417320" y="3456360"/>
            <a:ext cx="484560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777240" y="3584520"/>
            <a:ext cx="5022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strike="noStrike" spc="-1">
                <a:solidFill>
                  <a:srgbClr val="C8843C"/>
                </a:solidFill>
                <a:latin typeface="DM Serif Display"/>
                <a:ea typeface="DM Serif Display"/>
              </a:rPr>
              <a:t>2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1417320" y="362088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17181C"/>
                </a:solidFill>
                <a:latin typeface="Inter"/>
                <a:ea typeface="Inter"/>
              </a:rPr>
              <a:t>Modelul nu se oprește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1417320" y="4005000"/>
            <a:ext cx="50284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Nu există un semnal intern „nu știu”. Generarea continuă oricum, token cu token.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1417320" y="4663440"/>
            <a:ext cx="484560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777240" y="4791600"/>
            <a:ext cx="5022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strike="noStrike" spc="-1">
                <a:solidFill>
                  <a:srgbClr val="C8843C"/>
                </a:solidFill>
                <a:latin typeface="DM Serif Display"/>
                <a:ea typeface="DM Serif Display"/>
              </a:rPr>
              <a:t>3</a:t>
            </a:r>
            <a:endParaRPr lang="en-U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1417320" y="482796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17181C"/>
                </a:solidFill>
                <a:latin typeface="Inter"/>
                <a:ea typeface="Inter"/>
              </a:rPr>
              <a:t>Plauzibil ≠ adevărat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1417320" y="5212080"/>
            <a:ext cx="50284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Alege continuarea cea mai probabilă statistic. Iese o frază corectă gramatical și fals factual.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5"/>
          <p:cNvSpPr/>
          <p:nvPr/>
        </p:nvSpPr>
        <p:spPr>
          <a:xfrm>
            <a:off x="6583680" y="2331720"/>
            <a:ext cx="4827240" cy="3245400"/>
          </a:xfrm>
          <a:prstGeom prst="roundRect">
            <a:avLst>
              <a:gd name="adj" fmla="val 1690"/>
            </a:avLst>
          </a:prstGeom>
          <a:solidFill>
            <a:srgbClr val="17181C"/>
          </a:solidFill>
          <a:ln w="12700">
            <a:solidFill>
              <a:srgbClr val="1718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6"/>
          <p:cNvSpPr/>
          <p:nvPr/>
        </p:nvSpPr>
        <p:spPr>
          <a:xfrm>
            <a:off x="6949440" y="2606040"/>
            <a:ext cx="40957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296">
                <a:solidFill>
                  <a:srgbClr val="C8843C"/>
                </a:solidFill>
                <a:latin typeface="IBM Plex Mono"/>
                <a:ea typeface="IBM Plex Mono"/>
              </a:rPr>
              <a:t>CE SCHIMBĂ RAG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6949440" y="2971800"/>
            <a:ext cx="409572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Pui faptul în fața modelului înainte să răspundă.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6949440" y="3977640"/>
            <a:ext cx="4095720" cy="146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9C2B2"/>
                </a:solidFill>
                <a:latin typeface="Inter"/>
                <a:ea typeface="Inter"/>
              </a:rPr>
              <a:t>„Plauzibil” nu mai e singura cale de a continua: acum continuarea probabilă coincide cu cea corectă, fiindcă sursa e chiar acolo, în context. Halucinarea scade nu pentru că modelul „știe mai mult”, ci pentru că nu mai e nevoit să ghicească.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9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06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PROBLEMA · CE LIPSEȘTE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Trei feluri de cunoștințe care lipsesc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„Modelul nu știe” înseamnă de fapt trei lucruri diferite, și fiecare cere alt răspuns. RAG le acoperă pe toate trei dintr-o singură mișcare.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777240" y="2331720"/>
            <a:ext cx="3361320" cy="3245400"/>
          </a:xfrm>
          <a:prstGeom prst="roundRect">
            <a:avLst>
              <a:gd name="adj" fmla="val 1690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1069920" y="2606040"/>
            <a:ext cx="281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strike="noStrike" spc="-1">
                <a:solidFill>
                  <a:srgbClr val="1F3A5F"/>
                </a:solidFill>
                <a:latin typeface="DM Serif Display"/>
                <a:ea typeface="DM Serif Display"/>
              </a:rPr>
              <a:t>Absente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1069920" y="3200400"/>
            <a:ext cx="277596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1069920" y="3355920"/>
            <a:ext cx="277596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Cunoștințe care nu există nicăieri în datele publice: documentația ta internă, baza de date a produsului.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1069920" y="4846320"/>
            <a:ext cx="2775960" cy="502200"/>
          </a:xfrm>
          <a:prstGeom prst="roundRect">
            <a:avLst>
              <a:gd name="adj" fmla="val 9091"/>
            </a:avLst>
          </a:prstGeom>
          <a:solidFill>
            <a:srgbClr val="EAE3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1234440" y="4846320"/>
            <a:ext cx="25383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A9692A"/>
                </a:solidFill>
                <a:latin typeface="Inter"/>
                <a:ea typeface="Inter"/>
              </a:rPr>
              <a:t>→  </a:t>
            </a:r>
            <a:r>
              <a:rPr lang="en-US" sz="1150" b="1" strike="noStrike" spc="-1">
                <a:solidFill>
                  <a:srgbClr val="17181C"/>
                </a:solidFill>
                <a:latin typeface="Inter"/>
                <a:ea typeface="Inter"/>
              </a:rPr>
              <a:t>RAG le aduce din sursa ta.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0"/>
          <p:cNvSpPr/>
          <p:nvPr/>
        </p:nvSpPr>
        <p:spPr>
          <a:xfrm>
            <a:off x="4413600" y="2331720"/>
            <a:ext cx="3361320" cy="3245400"/>
          </a:xfrm>
          <a:prstGeom prst="roundRect">
            <a:avLst>
              <a:gd name="adj" fmla="val 1690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4706280" y="2606040"/>
            <a:ext cx="281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strike="noStrike" spc="-1">
                <a:solidFill>
                  <a:srgbClr val="1F3A5F"/>
                </a:solidFill>
                <a:latin typeface="DM Serif Display"/>
                <a:ea typeface="DM Serif Display"/>
              </a:rPr>
              <a:t>Învechite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4706280" y="3200400"/>
            <a:ext cx="277596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4706280" y="3355920"/>
            <a:ext cx="277596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Au existat, dar s-au schimbat după antrenare: prețuri, politici, stoc, evenimente recente.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4706280" y="4846320"/>
            <a:ext cx="2775960" cy="502200"/>
          </a:xfrm>
          <a:prstGeom prst="roundRect">
            <a:avLst>
              <a:gd name="adj" fmla="val 9091"/>
            </a:avLst>
          </a:prstGeom>
          <a:solidFill>
            <a:srgbClr val="EAE3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4870800" y="4846320"/>
            <a:ext cx="25383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A9692A"/>
                </a:solidFill>
                <a:latin typeface="Inter"/>
                <a:ea typeface="Inter"/>
              </a:rPr>
              <a:t>→  </a:t>
            </a:r>
            <a:r>
              <a:rPr lang="en-US" sz="1150" b="1" strike="noStrike" spc="-1">
                <a:solidFill>
                  <a:srgbClr val="17181C"/>
                </a:solidFill>
                <a:latin typeface="Inter"/>
                <a:ea typeface="Inter"/>
              </a:rPr>
              <a:t>RAG citește versiunea curentă.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6"/>
          <p:cNvSpPr/>
          <p:nvPr/>
        </p:nvSpPr>
        <p:spPr>
          <a:xfrm>
            <a:off x="8049600" y="2331720"/>
            <a:ext cx="3361320" cy="3245400"/>
          </a:xfrm>
          <a:prstGeom prst="roundRect">
            <a:avLst>
              <a:gd name="adj" fmla="val 1690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8342280" y="2606040"/>
            <a:ext cx="281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0" strike="noStrike" spc="-1">
                <a:solidFill>
                  <a:srgbClr val="1F3A5F"/>
                </a:solidFill>
                <a:latin typeface="DM Serif Display"/>
                <a:ea typeface="DM Serif Display"/>
              </a:rPr>
              <a:t>Private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8"/>
          <p:cNvSpPr/>
          <p:nvPr/>
        </p:nvSpPr>
        <p:spPr>
          <a:xfrm>
            <a:off x="8342280" y="3200400"/>
            <a:ext cx="277596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8342280" y="3355920"/>
            <a:ext cx="277596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Există, dar nu trebuie expuse oricui: date per-client, documente cu permisiuni, informații sensibile.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0"/>
          <p:cNvSpPr/>
          <p:nvPr/>
        </p:nvSpPr>
        <p:spPr>
          <a:xfrm>
            <a:off x="8342280" y="4846320"/>
            <a:ext cx="2775960" cy="502200"/>
          </a:xfrm>
          <a:prstGeom prst="roundRect">
            <a:avLst>
              <a:gd name="adj" fmla="val 9091"/>
            </a:avLst>
          </a:prstGeom>
          <a:solidFill>
            <a:srgbClr val="EAE3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1"/>
          <p:cNvSpPr/>
          <p:nvPr/>
        </p:nvSpPr>
        <p:spPr>
          <a:xfrm>
            <a:off x="8506800" y="4846320"/>
            <a:ext cx="25383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A9692A"/>
                </a:solidFill>
                <a:latin typeface="Inter"/>
                <a:ea typeface="Inter"/>
              </a:rPr>
              <a:t>→  </a:t>
            </a:r>
            <a:r>
              <a:rPr lang="en-US" sz="1150" b="1" strike="noStrike" spc="-1">
                <a:solidFill>
                  <a:srgbClr val="17181C"/>
                </a:solidFill>
                <a:latin typeface="Inter"/>
                <a:ea typeface="Inter"/>
              </a:rPr>
              <a:t>RAG filtrează după drepturi.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07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PROBLEMA · ALEGEREA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RAG, fine-tuning sau context lung?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Trei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solutii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diferite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, des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confundate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 Nu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concurează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,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răspund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la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întrebări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diferite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Cheia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: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vrei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să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schimbi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la model.</a:t>
            </a:r>
            <a:endParaRPr lang="en-US" sz="1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777240" y="2286000"/>
            <a:ext cx="3361320" cy="3382560"/>
          </a:xfrm>
          <a:prstGeom prst="roundRect">
            <a:avLst>
              <a:gd name="adj" fmla="val 1632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5"/>
          <p:cNvSpPr/>
          <p:nvPr/>
        </p:nvSpPr>
        <p:spPr>
          <a:xfrm>
            <a:off x="777240" y="2286000"/>
            <a:ext cx="3361320" cy="63360"/>
          </a:xfrm>
          <a:prstGeom prst="rect">
            <a:avLst/>
          </a:prstGeom>
          <a:solidFill>
            <a:srgbClr val="5C6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1051560" y="2523600"/>
            <a:ext cx="281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Context lung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1051560" y="3035880"/>
            <a:ext cx="2812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SCHIMBĂ: </a:t>
            </a:r>
            <a:r>
              <a:rPr lang="en-US" sz="900" b="1" strike="noStrike" spc="94">
                <a:solidFill>
                  <a:srgbClr val="5C6B7A"/>
                </a:solidFill>
                <a:latin typeface="IBM Plex Mono"/>
                <a:ea typeface="IBM Plex Mono"/>
              </a:rPr>
              <a:t>CAPACITATE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1051560" y="3346560"/>
            <a:ext cx="2812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5C6B7A"/>
                </a:solidFill>
                <a:latin typeface="Inter"/>
                <a:ea typeface="Inter"/>
              </a:rPr>
              <a:t>Bagi totul în prompt.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1051560" y="3858840"/>
            <a:ext cx="2831040" cy="17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Simplu, fără infrastructură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Costul crește cu fiecare token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Atenția scade pe mijloc (vezi sl. 20)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Tot ai nevoie să SELECTEZI ce bagi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4413600" y="2286000"/>
            <a:ext cx="3361320" cy="3382560"/>
          </a:xfrm>
          <a:prstGeom prst="roundRect">
            <a:avLst>
              <a:gd name="adj" fmla="val 1632"/>
            </a:avLst>
          </a:prstGeom>
          <a:solidFill>
            <a:srgbClr val="FBFAF4"/>
          </a:solidFill>
          <a:ln w="254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4413600" y="2286000"/>
            <a:ext cx="3361320" cy="6336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4687920" y="2523600"/>
            <a:ext cx="281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RAG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4687920" y="3035880"/>
            <a:ext cx="2812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SCHIMBĂ: </a:t>
            </a:r>
            <a:r>
              <a:rPr lang="en-US" sz="900" b="1" strike="noStrike" spc="94">
                <a:solidFill>
                  <a:srgbClr val="C8843C"/>
                </a:solidFill>
                <a:latin typeface="IBM Plex Mono"/>
                <a:ea typeface="IBM Plex Mono"/>
              </a:rPr>
              <a:t>CUNOȘTINȚE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4687920" y="3346560"/>
            <a:ext cx="2812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5C6B7A"/>
                </a:solidFill>
                <a:latin typeface="Inter"/>
                <a:ea typeface="Inter"/>
              </a:rPr>
              <a:t>Aduci doar ce trebuie.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4687920" y="3858840"/>
            <a:ext cx="2831040" cy="17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Date proaspete, fără reantrenare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Surse citabile, auditabile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Filtrare pe permisiuni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Plafonul = calitatea recuperării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8049600" y="2286000"/>
            <a:ext cx="3361320" cy="3382560"/>
          </a:xfrm>
          <a:prstGeom prst="roundRect">
            <a:avLst>
              <a:gd name="adj" fmla="val 1632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7"/>
          <p:cNvSpPr/>
          <p:nvPr/>
        </p:nvSpPr>
        <p:spPr>
          <a:xfrm>
            <a:off x="8049600" y="2286000"/>
            <a:ext cx="3361320" cy="6336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8323920" y="2523600"/>
            <a:ext cx="281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Fine-tuning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9"/>
          <p:cNvSpPr/>
          <p:nvPr/>
        </p:nvSpPr>
        <p:spPr>
          <a:xfrm>
            <a:off x="8323920" y="3035880"/>
            <a:ext cx="2812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SCHIMBĂ: </a:t>
            </a:r>
            <a:r>
              <a:rPr lang="en-US" sz="900" b="1" strike="noStrike" spc="94">
                <a:solidFill>
                  <a:srgbClr val="1F3A5F"/>
                </a:solidFill>
                <a:latin typeface="IBM Plex Mono"/>
                <a:ea typeface="IBM Plex Mono"/>
              </a:rPr>
              <a:t>COMPORTAMENT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0"/>
          <p:cNvSpPr/>
          <p:nvPr/>
        </p:nvSpPr>
        <p:spPr>
          <a:xfrm>
            <a:off x="8323920" y="3346560"/>
            <a:ext cx="2812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5C6B7A"/>
                </a:solidFill>
                <a:latin typeface="Inter"/>
                <a:ea typeface="Inter"/>
              </a:rPr>
              <a:t>Schimbi ponderile.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1"/>
          <p:cNvSpPr/>
          <p:nvPr/>
        </p:nvSpPr>
        <p:spPr>
          <a:xfrm>
            <a:off x="8323920" y="3858840"/>
            <a:ext cx="2831040" cy="17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Învață stil, format, ton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Internalizează sarcini repetate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Costisitor; date etichetate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10000"/>
              </a:lnSpc>
              <a:spcAft>
                <a:spcPts val="700"/>
              </a:spcAft>
              <a:buClr>
                <a:srgbClr val="17181C"/>
              </a:buClr>
              <a:buFont typeface="Symbol" charset="2"/>
              <a:buChar char=""/>
            </a:pPr>
            <a:r>
              <a:rPr lang="en-US" sz="1150" b="0" strike="noStrike" spc="-1">
                <a:solidFill>
                  <a:srgbClr val="17181C"/>
                </a:solidFill>
                <a:latin typeface="Inter"/>
                <a:ea typeface="Inter"/>
              </a:rPr>
              <a:t>Slab pentru fapte ce se schimbă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2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3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08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12188160" cy="5400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7982640" y="1097280"/>
            <a:ext cx="3839760" cy="41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0" b="0" strike="noStrike" spc="-1">
                <a:solidFill>
                  <a:srgbClr val="21242B"/>
                </a:solidFill>
                <a:latin typeface="DM Serif Display"/>
                <a:ea typeface="DM Serif Display"/>
              </a:rPr>
              <a:t>II</a:t>
            </a:r>
            <a:endParaRPr lang="en-US" sz="30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777240" y="246888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395">
                <a:solidFill>
                  <a:srgbClr val="C8843C"/>
                </a:solidFill>
                <a:latin typeface="IBM Plex Mono"/>
                <a:ea typeface="IBM Plex Mono"/>
              </a:rPr>
              <a:t>PARTEA II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731520" y="2834640"/>
            <a:ext cx="786312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52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Pipeline-ul,</a:t>
            </a:r>
            <a:endParaRPr lang="en-US" sz="5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52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piesă cu piesă</a:t>
            </a:r>
            <a:endParaRPr lang="en-US" sz="5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777240" y="4343400"/>
            <a:ext cx="667440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B7AF9C"/>
                </a:solidFill>
                <a:latin typeface="Inter"/>
                <a:ea typeface="Inter"/>
              </a:rPr>
              <a:t>Opt componente între un teanc de documente și un răspuns cu surse. Calitatea fiecăreia ridică sau coboară plafonul întregului sistem.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5"/>
          <p:cNvSpPr/>
          <p:nvPr/>
        </p:nvSpPr>
        <p:spPr>
          <a:xfrm>
            <a:off x="777240" y="2286000"/>
            <a:ext cx="1828080" cy="1944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B7AF9C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FFFFFF"/>
                </a:solidFill>
                <a:latin typeface="IBM Plex Mono"/>
                <a:ea typeface="IBM Plex Mono"/>
              </a:rPr>
              <a:t>09</a:t>
            </a:r>
            <a:r>
              <a:rPr lang="en-US" sz="850" b="0" strike="noStrike" spc="94">
                <a:solidFill>
                  <a:srgbClr val="B7AF9C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PIPELINE · ARHITECTURA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Două faze, un singur index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Tot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e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greu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se face o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dată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, offline. La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fiecare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întrebare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rulează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doar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partea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ușoară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, online.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Indexul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vectorial face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legatatura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dintre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cele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doua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fraze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</a:t>
            </a:r>
            <a:endParaRPr lang="en-US" sz="1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777240" y="224028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145">
                <a:solidFill>
                  <a:srgbClr val="1F3A5F"/>
                </a:solidFill>
                <a:latin typeface="IBM Plex Mono"/>
                <a:ea typeface="IBM Plex Mono"/>
              </a:rPr>
              <a:t>OFFLINE: o dată, la indexare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5"/>
          <p:cNvSpPr/>
          <p:nvPr/>
        </p:nvSpPr>
        <p:spPr>
          <a:xfrm>
            <a:off x="777240" y="2560320"/>
            <a:ext cx="1480680" cy="639360"/>
          </a:xfrm>
          <a:prstGeom prst="roundRect">
            <a:avLst>
              <a:gd name="adj" fmla="val 7143"/>
            </a:avLst>
          </a:prstGeom>
          <a:solidFill>
            <a:srgbClr val="FBFAF4"/>
          </a:solidFill>
          <a:ln w="12700">
            <a:solidFill>
              <a:srgbClr val="1F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813960" y="2560320"/>
            <a:ext cx="14076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7181C"/>
                </a:solidFill>
                <a:latin typeface="Inter"/>
                <a:ea typeface="Inter"/>
              </a:rPr>
              <a:t>Documente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2258640" y="2715840"/>
            <a:ext cx="29196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F3A5F"/>
                </a:solidFill>
                <a:latin typeface="Inter"/>
                <a:ea typeface="Inter"/>
              </a:rPr>
              <a:t>→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2551320" y="2560320"/>
            <a:ext cx="1480680" cy="639360"/>
          </a:xfrm>
          <a:prstGeom prst="roundRect">
            <a:avLst>
              <a:gd name="adj" fmla="val 7143"/>
            </a:avLst>
          </a:prstGeom>
          <a:solidFill>
            <a:srgbClr val="FBFAF4"/>
          </a:solidFill>
          <a:ln w="12700">
            <a:solidFill>
              <a:srgbClr val="1F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2587680" y="2560320"/>
            <a:ext cx="14076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7181C"/>
                </a:solidFill>
                <a:latin typeface="Inter"/>
                <a:ea typeface="Inter"/>
              </a:rPr>
              <a:t>Parsare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4032360" y="2715840"/>
            <a:ext cx="29196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F3A5F"/>
                </a:solidFill>
                <a:latin typeface="Inter"/>
                <a:ea typeface="Inter"/>
              </a:rPr>
              <a:t>→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1"/>
          <p:cNvSpPr/>
          <p:nvPr/>
        </p:nvSpPr>
        <p:spPr>
          <a:xfrm>
            <a:off x="4325040" y="2560320"/>
            <a:ext cx="1480680" cy="639360"/>
          </a:xfrm>
          <a:prstGeom prst="roundRect">
            <a:avLst>
              <a:gd name="adj" fmla="val 7143"/>
            </a:avLst>
          </a:prstGeom>
          <a:solidFill>
            <a:srgbClr val="FBFAF4"/>
          </a:solidFill>
          <a:ln w="12700">
            <a:solidFill>
              <a:srgbClr val="1F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4361760" y="2560320"/>
            <a:ext cx="14076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7181C"/>
                </a:solidFill>
                <a:latin typeface="Inter"/>
                <a:ea typeface="Inter"/>
              </a:rPr>
              <a:t>Chunking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5806440" y="2715840"/>
            <a:ext cx="29196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F3A5F"/>
                </a:solidFill>
                <a:latin typeface="Inter"/>
                <a:ea typeface="Inter"/>
              </a:rPr>
              <a:t>→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4"/>
          <p:cNvSpPr/>
          <p:nvPr/>
        </p:nvSpPr>
        <p:spPr>
          <a:xfrm>
            <a:off x="6099120" y="2560320"/>
            <a:ext cx="1480680" cy="639360"/>
          </a:xfrm>
          <a:prstGeom prst="roundRect">
            <a:avLst>
              <a:gd name="adj" fmla="val 7143"/>
            </a:avLst>
          </a:prstGeom>
          <a:solidFill>
            <a:srgbClr val="FBFAF4"/>
          </a:solidFill>
          <a:ln w="12700">
            <a:solidFill>
              <a:srgbClr val="1F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6135480" y="2560320"/>
            <a:ext cx="140760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7181C"/>
                </a:solidFill>
                <a:latin typeface="Inter"/>
                <a:ea typeface="Inter"/>
              </a:rPr>
              <a:t>Embedding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6"/>
          <p:cNvSpPr/>
          <p:nvPr/>
        </p:nvSpPr>
        <p:spPr>
          <a:xfrm>
            <a:off x="7872840" y="2715840"/>
            <a:ext cx="36504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F3A5F"/>
                </a:solidFill>
                <a:latin typeface="Inter"/>
                <a:ea typeface="Inter"/>
              </a:rPr>
              <a:t>→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7"/>
          <p:cNvSpPr/>
          <p:nvPr/>
        </p:nvSpPr>
        <p:spPr>
          <a:xfrm>
            <a:off x="8238600" y="2331720"/>
            <a:ext cx="3656880" cy="1782360"/>
          </a:xfrm>
          <a:prstGeom prst="roundRect">
            <a:avLst>
              <a:gd name="adj" fmla="val 3077"/>
            </a:avLst>
          </a:prstGeom>
          <a:solidFill>
            <a:srgbClr val="1718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8"/>
          <p:cNvSpPr/>
          <p:nvPr/>
        </p:nvSpPr>
        <p:spPr>
          <a:xfrm>
            <a:off x="8238600" y="2541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197">
                <a:solidFill>
                  <a:srgbClr val="C8843C"/>
                </a:solidFill>
                <a:latin typeface="IBM Plex Mono"/>
                <a:ea typeface="IBM Plex Mono"/>
              </a:rPr>
              <a:t>INDEX VECTORIAL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9"/>
          <p:cNvSpPr/>
          <p:nvPr/>
        </p:nvSpPr>
        <p:spPr>
          <a:xfrm>
            <a:off x="8238600" y="28162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B7AF9C"/>
                </a:solidFill>
                <a:latin typeface="Inter"/>
                <a:ea typeface="Inter"/>
              </a:rPr>
              <a:t>vectori + text + metadate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0"/>
          <p:cNvSpPr/>
          <p:nvPr/>
        </p:nvSpPr>
        <p:spPr>
          <a:xfrm>
            <a:off x="8741520" y="3291840"/>
            <a:ext cx="90720" cy="9072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21"/>
          <p:cNvSpPr/>
          <p:nvPr/>
        </p:nvSpPr>
        <p:spPr>
          <a:xfrm>
            <a:off x="9125640" y="3291840"/>
            <a:ext cx="90720" cy="90720"/>
          </a:xfrm>
          <a:prstGeom prst="ellipse">
            <a:avLst/>
          </a:prstGeom>
          <a:solidFill>
            <a:srgbClr val="2C303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22"/>
          <p:cNvSpPr/>
          <p:nvPr/>
        </p:nvSpPr>
        <p:spPr>
          <a:xfrm>
            <a:off x="9509760" y="3291840"/>
            <a:ext cx="90720" cy="90720"/>
          </a:xfrm>
          <a:prstGeom prst="ellipse">
            <a:avLst/>
          </a:prstGeom>
          <a:solidFill>
            <a:srgbClr val="2C303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23"/>
          <p:cNvSpPr/>
          <p:nvPr/>
        </p:nvSpPr>
        <p:spPr>
          <a:xfrm>
            <a:off x="9893880" y="3291840"/>
            <a:ext cx="90720" cy="90720"/>
          </a:xfrm>
          <a:prstGeom prst="ellipse">
            <a:avLst/>
          </a:prstGeom>
          <a:solidFill>
            <a:srgbClr val="2C303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24"/>
          <p:cNvSpPr/>
          <p:nvPr/>
        </p:nvSpPr>
        <p:spPr>
          <a:xfrm>
            <a:off x="10278000" y="3291840"/>
            <a:ext cx="90720" cy="9072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25"/>
          <p:cNvSpPr/>
          <p:nvPr/>
        </p:nvSpPr>
        <p:spPr>
          <a:xfrm>
            <a:off x="10661760" y="3291840"/>
            <a:ext cx="90720" cy="90720"/>
          </a:xfrm>
          <a:prstGeom prst="ellipse">
            <a:avLst/>
          </a:prstGeom>
          <a:solidFill>
            <a:srgbClr val="2C303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26"/>
          <p:cNvSpPr/>
          <p:nvPr/>
        </p:nvSpPr>
        <p:spPr>
          <a:xfrm>
            <a:off x="11045880" y="3291840"/>
            <a:ext cx="90720" cy="90720"/>
          </a:xfrm>
          <a:prstGeom prst="ellipse">
            <a:avLst/>
          </a:prstGeom>
          <a:solidFill>
            <a:srgbClr val="2C303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27"/>
          <p:cNvSpPr/>
          <p:nvPr/>
        </p:nvSpPr>
        <p:spPr>
          <a:xfrm>
            <a:off x="8741520" y="3584520"/>
            <a:ext cx="90720" cy="90720"/>
          </a:xfrm>
          <a:prstGeom prst="ellipse">
            <a:avLst/>
          </a:prstGeom>
          <a:solidFill>
            <a:srgbClr val="2C303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28"/>
          <p:cNvSpPr/>
          <p:nvPr/>
        </p:nvSpPr>
        <p:spPr>
          <a:xfrm>
            <a:off x="9125640" y="3584520"/>
            <a:ext cx="90720" cy="90720"/>
          </a:xfrm>
          <a:prstGeom prst="ellipse">
            <a:avLst/>
          </a:prstGeom>
          <a:solidFill>
            <a:srgbClr val="2C303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29"/>
          <p:cNvSpPr/>
          <p:nvPr/>
        </p:nvSpPr>
        <p:spPr>
          <a:xfrm>
            <a:off x="9509760" y="3584520"/>
            <a:ext cx="90720" cy="90720"/>
          </a:xfrm>
          <a:prstGeom prst="ellipse">
            <a:avLst/>
          </a:prstGeom>
          <a:solidFill>
            <a:srgbClr val="2C303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30"/>
          <p:cNvSpPr/>
          <p:nvPr/>
        </p:nvSpPr>
        <p:spPr>
          <a:xfrm>
            <a:off x="9893880" y="3584520"/>
            <a:ext cx="90720" cy="9072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31"/>
          <p:cNvSpPr/>
          <p:nvPr/>
        </p:nvSpPr>
        <p:spPr>
          <a:xfrm>
            <a:off x="10278000" y="3584520"/>
            <a:ext cx="90720" cy="90720"/>
          </a:xfrm>
          <a:prstGeom prst="ellipse">
            <a:avLst/>
          </a:prstGeom>
          <a:solidFill>
            <a:srgbClr val="2C303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32"/>
          <p:cNvSpPr/>
          <p:nvPr/>
        </p:nvSpPr>
        <p:spPr>
          <a:xfrm>
            <a:off x="10661760" y="3584520"/>
            <a:ext cx="90720" cy="90720"/>
          </a:xfrm>
          <a:prstGeom prst="ellipse">
            <a:avLst/>
          </a:prstGeom>
          <a:solidFill>
            <a:srgbClr val="2C303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33"/>
          <p:cNvSpPr/>
          <p:nvPr/>
        </p:nvSpPr>
        <p:spPr>
          <a:xfrm>
            <a:off x="11045880" y="3584520"/>
            <a:ext cx="90720" cy="90720"/>
          </a:xfrm>
          <a:prstGeom prst="ellipse">
            <a:avLst/>
          </a:prstGeom>
          <a:solidFill>
            <a:srgbClr val="2C303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4"/>
          <p:cNvSpPr/>
          <p:nvPr/>
        </p:nvSpPr>
        <p:spPr>
          <a:xfrm>
            <a:off x="777240" y="470916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145">
                <a:solidFill>
                  <a:srgbClr val="A9692A"/>
                </a:solidFill>
                <a:latin typeface="IBM Plex Mono"/>
                <a:ea typeface="IBM Plex Mono"/>
              </a:rPr>
              <a:t>ONLINE: la fiecare întrebare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35"/>
          <p:cNvSpPr/>
          <p:nvPr/>
        </p:nvSpPr>
        <p:spPr>
          <a:xfrm>
            <a:off x="777240" y="5029200"/>
            <a:ext cx="1572120" cy="712440"/>
          </a:xfrm>
          <a:prstGeom prst="roundRect">
            <a:avLst>
              <a:gd name="adj" fmla="val 6410"/>
            </a:avLst>
          </a:prstGeom>
          <a:solidFill>
            <a:srgbClr val="FBFAF4"/>
          </a:solidFill>
          <a:ln w="127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36"/>
          <p:cNvSpPr/>
          <p:nvPr/>
        </p:nvSpPr>
        <p:spPr>
          <a:xfrm>
            <a:off x="813960" y="5029200"/>
            <a:ext cx="149904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17181C"/>
                </a:solidFill>
                <a:latin typeface="Inter"/>
                <a:ea typeface="Inter"/>
              </a:rPr>
              <a:t>Întrebare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37"/>
          <p:cNvSpPr/>
          <p:nvPr/>
        </p:nvSpPr>
        <p:spPr>
          <a:xfrm>
            <a:off x="2350080" y="5221080"/>
            <a:ext cx="20052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C8843C"/>
                </a:solidFill>
                <a:latin typeface="Inter"/>
                <a:ea typeface="Inter"/>
              </a:rPr>
              <a:t>→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8"/>
          <p:cNvSpPr/>
          <p:nvPr/>
        </p:nvSpPr>
        <p:spPr>
          <a:xfrm>
            <a:off x="2551320" y="5029200"/>
            <a:ext cx="1572120" cy="712440"/>
          </a:xfrm>
          <a:prstGeom prst="roundRect">
            <a:avLst>
              <a:gd name="adj" fmla="val 6410"/>
            </a:avLst>
          </a:prstGeom>
          <a:solidFill>
            <a:srgbClr val="FBFAF4"/>
          </a:solidFill>
          <a:ln w="127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39"/>
          <p:cNvSpPr/>
          <p:nvPr/>
        </p:nvSpPr>
        <p:spPr>
          <a:xfrm>
            <a:off x="2587680" y="5029200"/>
            <a:ext cx="149904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17181C"/>
                </a:solidFill>
                <a:latin typeface="Inter"/>
                <a:ea typeface="Inter"/>
              </a:rPr>
              <a:t>Embedding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40"/>
          <p:cNvSpPr/>
          <p:nvPr/>
        </p:nvSpPr>
        <p:spPr>
          <a:xfrm>
            <a:off x="4123800" y="5221080"/>
            <a:ext cx="20052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C8843C"/>
                </a:solidFill>
                <a:latin typeface="Inter"/>
                <a:ea typeface="Inter"/>
              </a:rPr>
              <a:t>→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41"/>
          <p:cNvSpPr/>
          <p:nvPr/>
        </p:nvSpPr>
        <p:spPr>
          <a:xfrm>
            <a:off x="4325040" y="5029200"/>
            <a:ext cx="1572120" cy="712440"/>
          </a:xfrm>
          <a:prstGeom prst="roundRect">
            <a:avLst>
              <a:gd name="adj" fmla="val 6410"/>
            </a:avLst>
          </a:prstGeom>
          <a:solidFill>
            <a:srgbClr val="FBFAF4"/>
          </a:solidFill>
          <a:ln w="127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42"/>
          <p:cNvSpPr/>
          <p:nvPr/>
        </p:nvSpPr>
        <p:spPr>
          <a:xfrm>
            <a:off x="4361760" y="5029200"/>
            <a:ext cx="149904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17181C"/>
                </a:solidFill>
                <a:latin typeface="Inter"/>
                <a:ea typeface="Inter"/>
              </a:rPr>
              <a:t>Căutare ANN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43"/>
          <p:cNvSpPr/>
          <p:nvPr/>
        </p:nvSpPr>
        <p:spPr>
          <a:xfrm>
            <a:off x="5897880" y="5221080"/>
            <a:ext cx="20052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C8843C"/>
                </a:solidFill>
                <a:latin typeface="Inter"/>
                <a:ea typeface="Inter"/>
              </a:rPr>
              <a:t>→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44"/>
          <p:cNvSpPr/>
          <p:nvPr/>
        </p:nvSpPr>
        <p:spPr>
          <a:xfrm>
            <a:off x="6099120" y="5029200"/>
            <a:ext cx="1572120" cy="712440"/>
          </a:xfrm>
          <a:prstGeom prst="roundRect">
            <a:avLst>
              <a:gd name="adj" fmla="val 6410"/>
            </a:avLst>
          </a:prstGeom>
          <a:solidFill>
            <a:srgbClr val="FBFAF4"/>
          </a:solidFill>
          <a:ln w="127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45"/>
          <p:cNvSpPr/>
          <p:nvPr/>
        </p:nvSpPr>
        <p:spPr>
          <a:xfrm>
            <a:off x="6135480" y="5029200"/>
            <a:ext cx="149904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17181C"/>
                </a:solidFill>
                <a:latin typeface="Inter"/>
                <a:ea typeface="Inter"/>
              </a:rPr>
              <a:t>Reranking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46"/>
          <p:cNvSpPr/>
          <p:nvPr/>
        </p:nvSpPr>
        <p:spPr>
          <a:xfrm>
            <a:off x="7671960" y="5221080"/>
            <a:ext cx="20052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C8843C"/>
                </a:solidFill>
                <a:latin typeface="Inter"/>
                <a:ea typeface="Inter"/>
              </a:rPr>
              <a:t>→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47"/>
          <p:cNvSpPr/>
          <p:nvPr/>
        </p:nvSpPr>
        <p:spPr>
          <a:xfrm>
            <a:off x="7872840" y="5029200"/>
            <a:ext cx="1572120" cy="712440"/>
          </a:xfrm>
          <a:prstGeom prst="roundRect">
            <a:avLst>
              <a:gd name="adj" fmla="val 6410"/>
            </a:avLst>
          </a:prstGeom>
          <a:solidFill>
            <a:srgbClr val="FBFAF4"/>
          </a:solidFill>
          <a:ln w="127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48"/>
          <p:cNvSpPr/>
          <p:nvPr/>
        </p:nvSpPr>
        <p:spPr>
          <a:xfrm>
            <a:off x="7909560" y="5029200"/>
            <a:ext cx="149904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17181C"/>
                </a:solidFill>
                <a:latin typeface="Inter"/>
                <a:ea typeface="Inter"/>
              </a:rPr>
              <a:t>Prompt +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17181C"/>
                </a:solidFill>
                <a:latin typeface="Inter"/>
                <a:ea typeface="Inter"/>
              </a:rPr>
              <a:t>context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49"/>
          <p:cNvSpPr/>
          <p:nvPr/>
        </p:nvSpPr>
        <p:spPr>
          <a:xfrm>
            <a:off x="9445680" y="5221080"/>
            <a:ext cx="20052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C8843C"/>
                </a:solidFill>
                <a:latin typeface="Inter"/>
                <a:ea typeface="Inter"/>
              </a:rPr>
              <a:t>→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50"/>
          <p:cNvSpPr/>
          <p:nvPr/>
        </p:nvSpPr>
        <p:spPr>
          <a:xfrm>
            <a:off x="9646920" y="5029200"/>
            <a:ext cx="1572120" cy="712440"/>
          </a:xfrm>
          <a:prstGeom prst="roundRect">
            <a:avLst>
              <a:gd name="adj" fmla="val 6410"/>
            </a:avLst>
          </a:prstGeom>
          <a:solidFill>
            <a:srgbClr val="17181C"/>
          </a:solidFill>
          <a:ln w="12700">
            <a:solidFill>
              <a:srgbClr val="1718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51"/>
          <p:cNvSpPr/>
          <p:nvPr/>
        </p:nvSpPr>
        <p:spPr>
          <a:xfrm>
            <a:off x="9683640" y="5029200"/>
            <a:ext cx="149904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Inter"/>
                <a:ea typeface="Inter"/>
              </a:rPr>
              <a:t>LLM →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Inter"/>
                <a:ea typeface="Inter"/>
              </a:rPr>
              <a:t>răspuns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52"/>
          <p:cNvSpPr/>
          <p:nvPr/>
        </p:nvSpPr>
        <p:spPr>
          <a:xfrm>
            <a:off x="8330040" y="4114800"/>
            <a:ext cx="360" cy="594360"/>
          </a:xfrm>
          <a:prstGeom prst="line">
            <a:avLst/>
          </a:prstGeom>
          <a:ln w="15875">
            <a:solidFill>
              <a:srgbClr val="C8843C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53"/>
          <p:cNvSpPr/>
          <p:nvPr/>
        </p:nvSpPr>
        <p:spPr>
          <a:xfrm>
            <a:off x="7781400" y="420624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strike="noStrike" spc="-1">
                <a:solidFill>
                  <a:srgbClr val="8A8270"/>
                </a:solidFill>
                <a:latin typeface="IBM Plex Mono"/>
                <a:ea typeface="IBM Plex Mono"/>
              </a:rPr>
              <a:t>citește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54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55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10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PIPELINE · INGESTIA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 dirty="0" err="1">
                <a:solidFill>
                  <a:srgbClr val="17181C"/>
                </a:solidFill>
                <a:latin typeface="DM Serif Display"/>
                <a:ea typeface="DM Serif Display"/>
              </a:rPr>
              <a:t>Partea</a:t>
            </a:r>
            <a:r>
              <a:rPr lang="en-US" sz="3800" b="0" strike="noStrike" spc="-1" dirty="0">
                <a:solidFill>
                  <a:srgbClr val="17181C"/>
                </a:solidFill>
                <a:latin typeface="DM Serif Display"/>
                <a:ea typeface="DM Serif Display"/>
              </a:rPr>
              <a:t> </a:t>
            </a:r>
            <a:r>
              <a:rPr lang="en-US" sz="3800" spc="-1" dirty="0" err="1">
                <a:solidFill>
                  <a:srgbClr val="17181C"/>
                </a:solidFill>
                <a:latin typeface="DM Serif Display"/>
                <a:ea typeface="DM Serif Display"/>
              </a:rPr>
              <a:t>mai</a:t>
            </a:r>
            <a:r>
              <a:rPr lang="en-US" sz="3800" spc="-1" dirty="0">
                <a:solidFill>
                  <a:srgbClr val="17181C"/>
                </a:solidFill>
                <a:latin typeface="DM Serif Display"/>
                <a:ea typeface="DM Serif Display"/>
              </a:rPr>
              <a:t> </a:t>
            </a:r>
            <a:r>
              <a:rPr lang="en-US" sz="3800" spc="-1" dirty="0" err="1">
                <a:solidFill>
                  <a:srgbClr val="17181C"/>
                </a:solidFill>
                <a:latin typeface="DM Serif Display"/>
                <a:ea typeface="DM Serif Display"/>
              </a:rPr>
              <a:t>putin</a:t>
            </a:r>
            <a:r>
              <a:rPr lang="en-US" sz="3800" spc="-1" dirty="0">
                <a:solidFill>
                  <a:srgbClr val="17181C"/>
                </a:solidFill>
                <a:latin typeface="DM Serif Display"/>
                <a:ea typeface="DM Serif Display"/>
              </a:rPr>
              <a:t> </a:t>
            </a:r>
            <a:r>
              <a:rPr lang="en-US" sz="3800" spc="-1" dirty="0" err="1">
                <a:solidFill>
                  <a:srgbClr val="17181C"/>
                </a:solidFill>
                <a:latin typeface="DM Serif Display"/>
                <a:ea typeface="DM Serif Display"/>
              </a:rPr>
              <a:t>vizibila</a:t>
            </a:r>
            <a:r>
              <a:rPr lang="en-US" sz="3800" b="0" strike="noStrike" spc="-1" dirty="0">
                <a:solidFill>
                  <a:srgbClr val="17181C"/>
                </a:solidFill>
                <a:latin typeface="DM Serif Display"/>
                <a:ea typeface="DM Serif Display"/>
              </a:rPr>
              <a:t>, </a:t>
            </a:r>
            <a:r>
              <a:rPr lang="en-US" sz="3800" b="0" strike="noStrike" spc="-1" dirty="0" err="1">
                <a:solidFill>
                  <a:srgbClr val="17181C"/>
                </a:solidFill>
                <a:latin typeface="DM Serif Display"/>
                <a:ea typeface="DM Serif Display"/>
              </a:rPr>
              <a:t>dar</a:t>
            </a:r>
            <a:r>
              <a:rPr lang="en-US" sz="3800" b="0" strike="noStrike" spc="-1" dirty="0">
                <a:solidFill>
                  <a:srgbClr val="17181C"/>
                </a:solidFill>
                <a:latin typeface="DM Serif Display"/>
                <a:ea typeface="DM Serif Display"/>
              </a:rPr>
              <a:t> </a:t>
            </a:r>
            <a:r>
              <a:rPr lang="en-US" sz="3800" b="0" strike="noStrike" spc="-1" dirty="0" err="1">
                <a:solidFill>
                  <a:srgbClr val="17181C"/>
                </a:solidFill>
                <a:latin typeface="DM Serif Display"/>
                <a:ea typeface="DM Serif Display"/>
              </a:rPr>
              <a:t>decisivă</a:t>
            </a:r>
            <a:r>
              <a:rPr lang="en-US" sz="3800" b="0" strike="noStrike" spc="-1" dirty="0">
                <a:solidFill>
                  <a:srgbClr val="17181C"/>
                </a:solidFill>
                <a:latin typeface="DM Serif Display"/>
                <a:ea typeface="DM Serif Display"/>
              </a:rPr>
              <a:t>.</a:t>
            </a:r>
            <a:endParaRPr lang="en-US" sz="3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80% din munca unui sistem RAG e aici, înainte de orice „AI”. Dacă textul care intră e murdar, nimic din aval nu-l mai salvează.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4"/>
          <p:cNvSpPr/>
          <p:nvPr/>
        </p:nvSpPr>
        <p:spPr>
          <a:xfrm>
            <a:off x="777240" y="2331720"/>
            <a:ext cx="5179320" cy="1325160"/>
          </a:xfrm>
          <a:prstGeom prst="roundRect">
            <a:avLst>
              <a:gd name="adj" fmla="val 4138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1051560" y="25603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1">
                <a:solidFill>
                  <a:srgbClr val="C8843C"/>
                </a:solidFill>
                <a:latin typeface="DM Serif Display"/>
                <a:ea typeface="DM Serif Display"/>
              </a:rPr>
              <a:t>01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1920240" y="2551320"/>
            <a:ext cx="380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17181C"/>
                </a:solidFill>
                <a:latin typeface="Inter"/>
                <a:ea typeface="Inter"/>
              </a:rPr>
              <a:t>Parsare fidelă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1920240" y="2935080"/>
            <a:ext cx="38077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PDF cu coloane, tabele, scanuri, HTML. Un parser slab amestecă ordinea textului, și înveți zgomot.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6231600" y="2331720"/>
            <a:ext cx="5179320" cy="1325160"/>
          </a:xfrm>
          <a:prstGeom prst="roundRect">
            <a:avLst>
              <a:gd name="adj" fmla="val 4138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6505920" y="25603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1">
                <a:solidFill>
                  <a:srgbClr val="C8843C"/>
                </a:solidFill>
                <a:latin typeface="DM Serif Display"/>
                <a:ea typeface="DM Serif Display"/>
              </a:rPr>
              <a:t>02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7374600" y="2551320"/>
            <a:ext cx="380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17181C"/>
                </a:solidFill>
                <a:latin typeface="Inter"/>
                <a:ea typeface="Inter"/>
              </a:rPr>
              <a:t>Curățare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7374600" y="2935080"/>
            <a:ext cx="38077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Scoți header/footer repetitiv, navigație, boilerplate. Ce rămâne trebuie să fie conținut, nu decor.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777240" y="3886200"/>
            <a:ext cx="5179320" cy="1325160"/>
          </a:xfrm>
          <a:prstGeom prst="roundRect">
            <a:avLst>
              <a:gd name="adj" fmla="val 4138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1051560" y="411480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1">
                <a:solidFill>
                  <a:srgbClr val="C8843C"/>
                </a:solidFill>
                <a:latin typeface="DM Serif Display"/>
                <a:ea typeface="DM Serif Display"/>
              </a:rPr>
              <a:t>03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1920240" y="4105800"/>
            <a:ext cx="380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17181C"/>
                </a:solidFill>
                <a:latin typeface="Inter"/>
                <a:ea typeface="Inter"/>
              </a:rPr>
              <a:t>Metadate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1920240" y="4489560"/>
            <a:ext cx="38077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Titlu, autor, dată, sursă, permisiuni. Le atașezi acum, fără ele nu poți filtra sau cita mai târziu.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6231600" y="3886200"/>
            <a:ext cx="5179320" cy="1325160"/>
          </a:xfrm>
          <a:prstGeom prst="roundRect">
            <a:avLst>
              <a:gd name="adj" fmla="val 4138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7"/>
          <p:cNvSpPr/>
          <p:nvPr/>
        </p:nvSpPr>
        <p:spPr>
          <a:xfrm>
            <a:off x="6505920" y="411480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1">
                <a:solidFill>
                  <a:srgbClr val="C8843C"/>
                </a:solidFill>
                <a:latin typeface="DM Serif Display"/>
                <a:ea typeface="DM Serif Display"/>
              </a:rPr>
              <a:t>04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8"/>
          <p:cNvSpPr/>
          <p:nvPr/>
        </p:nvSpPr>
        <p:spPr>
          <a:xfrm>
            <a:off x="7374600" y="4105800"/>
            <a:ext cx="3807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17181C"/>
                </a:solidFill>
                <a:latin typeface="Inter"/>
                <a:ea typeface="Inter"/>
              </a:rPr>
              <a:t>Normalizare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9"/>
          <p:cNvSpPr/>
          <p:nvPr/>
        </p:nvSpPr>
        <p:spPr>
          <a:xfrm>
            <a:off x="7374600" y="4489560"/>
            <a:ext cx="38077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Encoding, spații, unicode, deduplicare. Două copii ale aceluiași doc îți strică scorurile de similaritate.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20"/>
          <p:cNvSpPr/>
          <p:nvPr/>
        </p:nvSpPr>
        <p:spPr>
          <a:xfrm>
            <a:off x="777240" y="5486400"/>
            <a:ext cx="10633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B0462E"/>
                </a:solidFill>
                <a:latin typeface="Inter"/>
                <a:ea typeface="Inter"/>
              </a:rPr>
              <a:t>Regula:  </a:t>
            </a:r>
            <a:r>
              <a:rPr lang="en-US" sz="1300" b="0" strike="noStrike" spc="-1">
                <a:solidFill>
                  <a:srgbClr val="17181C"/>
                </a:solidFill>
                <a:latin typeface="Inter"/>
                <a:ea typeface="Inter"/>
              </a:rPr>
              <a:t>„garbage in, garbage out” nu e o vorbă, e cel mai frecvent motiv pentru care un RAG „nu merge”.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22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11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PIPELINE · CHUNKING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Cât de mare să fie o bucată?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Fragmentarea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documentelor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 pare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simpla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și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e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una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dintre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cele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mai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importante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decizii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Totul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e un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compromis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între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cât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de precis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găsești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și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cât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de bine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răspunzi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</a:t>
            </a:r>
            <a:endParaRPr lang="en-US" sz="1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4"/>
          <p:cNvSpPr/>
          <p:nvPr/>
        </p:nvSpPr>
        <p:spPr>
          <a:xfrm>
            <a:off x="777240" y="2651760"/>
            <a:ext cx="10633680" cy="456480"/>
          </a:xfrm>
          <a:prstGeom prst="rect">
            <a:avLst/>
          </a:prstGeom>
          <a:solidFill>
            <a:srgbClr val="EAE3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5"/>
          <p:cNvSpPr/>
          <p:nvPr/>
        </p:nvSpPr>
        <p:spPr>
          <a:xfrm>
            <a:off x="777240" y="2651760"/>
            <a:ext cx="5316480" cy="456480"/>
          </a:xfrm>
          <a:prstGeom prst="rect">
            <a:avLst/>
          </a:prstGeom>
          <a:solidFill>
            <a:srgbClr val="E3D9C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6"/>
          <p:cNvSpPr/>
          <p:nvPr/>
        </p:nvSpPr>
        <p:spPr>
          <a:xfrm>
            <a:off x="960120" y="265176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94">
                <a:solidFill>
                  <a:srgbClr val="1F3A5F"/>
                </a:solidFill>
                <a:latin typeface="IBM Plex Mono"/>
                <a:ea typeface="IBM Plex Mono"/>
              </a:rPr>
              <a:t>CHUNK MIC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7"/>
          <p:cNvSpPr/>
          <p:nvPr/>
        </p:nvSpPr>
        <p:spPr>
          <a:xfrm>
            <a:off x="8485560" y="265176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94">
                <a:solidFill>
                  <a:srgbClr val="A9692A"/>
                </a:solidFill>
                <a:latin typeface="IBM Plex Mono"/>
                <a:ea typeface="IBM Plex Mono"/>
              </a:rPr>
              <a:t>CHUNK MARE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8"/>
          <p:cNvSpPr/>
          <p:nvPr/>
        </p:nvSpPr>
        <p:spPr>
          <a:xfrm>
            <a:off x="6021360" y="2807280"/>
            <a:ext cx="145440" cy="145440"/>
          </a:xfrm>
          <a:prstGeom prst="ellipse">
            <a:avLst/>
          </a:prstGeom>
          <a:solidFill>
            <a:srgbClr val="1718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9"/>
          <p:cNvSpPr/>
          <p:nvPr/>
        </p:nvSpPr>
        <p:spPr>
          <a:xfrm>
            <a:off x="777240" y="338328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3E6B5A"/>
                </a:solidFill>
                <a:latin typeface="Inter"/>
                <a:ea typeface="Inter"/>
              </a:rPr>
              <a:t>⊕  precizie mare la regăsire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0"/>
          <p:cNvSpPr/>
          <p:nvPr/>
        </p:nvSpPr>
        <p:spPr>
          <a:xfrm>
            <a:off x="777240" y="3749040"/>
            <a:ext cx="5119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⊖  context fragmentat: bucata găsită poate să nu conțină tot ce trebuie pentru răspuns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1"/>
          <p:cNvSpPr/>
          <p:nvPr/>
        </p:nvSpPr>
        <p:spPr>
          <a:xfrm>
            <a:off x="6263640" y="338328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3E6B5A"/>
                </a:solidFill>
                <a:latin typeface="Inter"/>
                <a:ea typeface="Inter"/>
              </a:rPr>
              <a:t>⊕  context bogat, idee completă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2"/>
          <p:cNvSpPr/>
          <p:nvPr/>
        </p:nvSpPr>
        <p:spPr>
          <a:xfrm>
            <a:off x="6263640" y="3749040"/>
            <a:ext cx="5119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⊖  zgomot diluează semnalul, costă mai mulți tokeni, scoruri mai vagi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3"/>
          <p:cNvSpPr/>
          <p:nvPr/>
        </p:nvSpPr>
        <p:spPr>
          <a:xfrm>
            <a:off x="777240" y="4800600"/>
            <a:ext cx="10633680" cy="1050840"/>
          </a:xfrm>
          <a:prstGeom prst="roundRect">
            <a:avLst>
              <a:gd name="adj" fmla="val 5217"/>
            </a:avLst>
          </a:prstGeom>
          <a:solidFill>
            <a:srgbClr val="17181C"/>
          </a:solidFill>
          <a:ln w="12700">
            <a:solidFill>
              <a:srgbClr val="1718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4"/>
          <p:cNvSpPr/>
          <p:nvPr/>
        </p:nvSpPr>
        <p:spPr>
          <a:xfrm>
            <a:off x="1143000" y="49834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197">
                <a:solidFill>
                  <a:srgbClr val="C8843C"/>
                </a:solidFill>
                <a:latin typeface="IBM Plex Mono"/>
                <a:ea typeface="IBM Plex Mono"/>
              </a:rPr>
              <a:t>REZOLVAREA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5"/>
          <p:cNvSpPr/>
          <p:nvPr/>
        </p:nvSpPr>
        <p:spPr>
          <a:xfrm>
            <a:off x="1143000" y="5285160"/>
            <a:ext cx="990216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Inter"/>
                <a:ea typeface="Inter"/>
              </a:rPr>
              <a:t>Parent-document. </a:t>
            </a:r>
            <a:r>
              <a:rPr lang="en-US" sz="1250" b="0" strike="noStrike" spc="-1">
                <a:solidFill>
                  <a:srgbClr val="C9C2B2"/>
                </a:solidFill>
                <a:latin typeface="Inter"/>
                <a:ea typeface="Inter"/>
              </a:rPr>
              <a:t>Cauți pe bucăți mici (precizie), dar trimiți modelului documentul-părinte din care provin (context). Nu trebuie să alegi, iei ce e bun din ambele capete.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6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7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12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PIPELINE · CHUNKING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Patru moduri de a tăia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De la cel mai simplu la cel mai costisitor. În practică, recursiv e baza solidă; treci la semantic doar dacă evaluarea o cere.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4"/>
          <p:cNvSpPr/>
          <p:nvPr/>
        </p:nvSpPr>
        <p:spPr>
          <a:xfrm>
            <a:off x="777240" y="2331720"/>
            <a:ext cx="2452320" cy="1828080"/>
          </a:xfrm>
          <a:prstGeom prst="roundRect">
            <a:avLst>
              <a:gd name="adj" fmla="val 3000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5"/>
          <p:cNvSpPr/>
          <p:nvPr/>
        </p:nvSpPr>
        <p:spPr>
          <a:xfrm>
            <a:off x="1033200" y="2560320"/>
            <a:ext cx="1995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C6B7A"/>
                </a:solidFill>
                <a:latin typeface="IBM Plex Mono"/>
                <a:ea typeface="IBM Plex Mono"/>
              </a:rPr>
              <a:t>01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1033200" y="2880360"/>
            <a:ext cx="19951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Fix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1033200" y="3355920"/>
            <a:ext cx="197676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Tai la N tokeni cu overlap. Rapid, dar rupe fraze la mijloc.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8"/>
          <p:cNvSpPr/>
          <p:nvPr/>
        </p:nvSpPr>
        <p:spPr>
          <a:xfrm>
            <a:off x="3504600" y="2331720"/>
            <a:ext cx="2452320" cy="1828080"/>
          </a:xfrm>
          <a:prstGeom prst="roundRect">
            <a:avLst>
              <a:gd name="adj" fmla="val 3000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9"/>
          <p:cNvSpPr/>
          <p:nvPr/>
        </p:nvSpPr>
        <p:spPr>
          <a:xfrm>
            <a:off x="3760560" y="2560320"/>
            <a:ext cx="1995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8843C"/>
                </a:solidFill>
                <a:latin typeface="IBM Plex Mono"/>
                <a:ea typeface="IBM Plex Mono"/>
              </a:rPr>
              <a:t>02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3760560" y="2880360"/>
            <a:ext cx="19951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Recursiv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3760560" y="3355920"/>
            <a:ext cx="197676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Separatoare ierarhice: paragraf → frază → cuvânt. Bază solidă.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2"/>
          <p:cNvSpPr/>
          <p:nvPr/>
        </p:nvSpPr>
        <p:spPr>
          <a:xfrm>
            <a:off x="6231600" y="2331720"/>
            <a:ext cx="2452320" cy="1828080"/>
          </a:xfrm>
          <a:prstGeom prst="roundRect">
            <a:avLst>
              <a:gd name="adj" fmla="val 3000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3"/>
          <p:cNvSpPr/>
          <p:nvPr/>
        </p:nvSpPr>
        <p:spPr>
          <a:xfrm>
            <a:off x="6487560" y="2560320"/>
            <a:ext cx="1995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C6B7A"/>
                </a:solidFill>
                <a:latin typeface="IBM Plex Mono"/>
                <a:ea typeface="IBM Plex Mono"/>
              </a:rPr>
              <a:t>03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4"/>
          <p:cNvSpPr/>
          <p:nvPr/>
        </p:nvSpPr>
        <p:spPr>
          <a:xfrm>
            <a:off x="6487560" y="2880360"/>
            <a:ext cx="19951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Semantic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5"/>
          <p:cNvSpPr/>
          <p:nvPr/>
        </p:nvSpPr>
        <p:spPr>
          <a:xfrm>
            <a:off x="6487560" y="3355920"/>
            <a:ext cx="197676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Granițe acolo unde sensul se schimbă (similaritate între fraze).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6"/>
          <p:cNvSpPr/>
          <p:nvPr/>
        </p:nvSpPr>
        <p:spPr>
          <a:xfrm>
            <a:off x="8958960" y="2331720"/>
            <a:ext cx="2452320" cy="1828080"/>
          </a:xfrm>
          <a:prstGeom prst="roundRect">
            <a:avLst>
              <a:gd name="adj" fmla="val 3000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17"/>
          <p:cNvSpPr/>
          <p:nvPr/>
        </p:nvSpPr>
        <p:spPr>
          <a:xfrm>
            <a:off x="9214920" y="2560320"/>
            <a:ext cx="1995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C6B7A"/>
                </a:solidFill>
                <a:latin typeface="IBM Plex Mono"/>
                <a:ea typeface="IBM Plex Mono"/>
              </a:rPr>
              <a:t>04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18"/>
          <p:cNvSpPr/>
          <p:nvPr/>
        </p:nvSpPr>
        <p:spPr>
          <a:xfrm>
            <a:off x="9214920" y="2880360"/>
            <a:ext cx="19951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Structural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19"/>
          <p:cNvSpPr/>
          <p:nvPr/>
        </p:nvSpPr>
        <p:spPr>
          <a:xfrm>
            <a:off x="9214920" y="3355920"/>
            <a:ext cx="197676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Respectă titluri, secțiuni, tabele, cod. Ideal pentru Markdown/HTML.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20"/>
          <p:cNvSpPr/>
          <p:nvPr/>
        </p:nvSpPr>
        <p:spPr>
          <a:xfrm>
            <a:off x="3504600" y="2331720"/>
            <a:ext cx="2452320" cy="5400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21"/>
          <p:cNvSpPr/>
          <p:nvPr/>
        </p:nvSpPr>
        <p:spPr>
          <a:xfrm>
            <a:off x="777240" y="4572000"/>
            <a:ext cx="10633680" cy="1279440"/>
          </a:xfrm>
          <a:prstGeom prst="roundRect">
            <a:avLst>
              <a:gd name="adj" fmla="val 4286"/>
            </a:avLst>
          </a:prstGeom>
          <a:solidFill>
            <a:srgbClr val="EAE3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22"/>
          <p:cNvSpPr/>
          <p:nvPr/>
        </p:nvSpPr>
        <p:spPr>
          <a:xfrm>
            <a:off x="1143000" y="475488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PUNCT DE PORNIRE REZONABIL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23"/>
          <p:cNvSpPr/>
          <p:nvPr/>
        </p:nvSpPr>
        <p:spPr>
          <a:xfrm>
            <a:off x="1143000" y="5029200"/>
            <a:ext cx="2468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~300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24"/>
          <p:cNvSpPr/>
          <p:nvPr/>
        </p:nvSpPr>
        <p:spPr>
          <a:xfrm>
            <a:off x="1143000" y="5504760"/>
            <a:ext cx="24681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C6B7A"/>
                </a:solidFill>
                <a:latin typeface="Inter"/>
                <a:ea typeface="Inter"/>
              </a:rPr>
              <a:t>tokeni / chunk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25"/>
          <p:cNvSpPr/>
          <p:nvPr/>
        </p:nvSpPr>
        <p:spPr>
          <a:xfrm>
            <a:off x="3840480" y="5029200"/>
            <a:ext cx="2468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10–20%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26"/>
          <p:cNvSpPr/>
          <p:nvPr/>
        </p:nvSpPr>
        <p:spPr>
          <a:xfrm>
            <a:off x="3840480" y="5504760"/>
            <a:ext cx="24681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C6B7A"/>
                </a:solidFill>
                <a:latin typeface="Inter"/>
                <a:ea typeface="Inter"/>
              </a:rPr>
              <a:t>overlap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27"/>
          <p:cNvSpPr/>
          <p:nvPr/>
        </p:nvSpPr>
        <p:spPr>
          <a:xfrm>
            <a:off x="6537960" y="5029200"/>
            <a:ext cx="2468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recursiv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28"/>
          <p:cNvSpPr/>
          <p:nvPr/>
        </p:nvSpPr>
        <p:spPr>
          <a:xfrm>
            <a:off x="6537960" y="5504760"/>
            <a:ext cx="24681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C6B7A"/>
                </a:solidFill>
                <a:latin typeface="Inter"/>
                <a:ea typeface="Inter"/>
              </a:rPr>
              <a:t>strategie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29"/>
          <p:cNvSpPr/>
          <p:nvPr/>
        </p:nvSpPr>
        <p:spPr>
          <a:xfrm>
            <a:off x="9235440" y="5029200"/>
            <a:ext cx="2468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mereu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30"/>
          <p:cNvSpPr/>
          <p:nvPr/>
        </p:nvSpPr>
        <p:spPr>
          <a:xfrm>
            <a:off x="9235440" y="5504760"/>
            <a:ext cx="24681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C6B7A"/>
                </a:solidFill>
                <a:latin typeface="Inter"/>
                <a:ea typeface="Inter"/>
              </a:rPr>
              <a:t>evaluează pe datele tale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31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32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13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PIPELINE · EMBEDDINGS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Text → vectori cu sens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Un embedding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transformă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un text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într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-un vector. Magia: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texte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cu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sens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asemanator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ajung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sa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fie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reprezentate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prin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vectori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apropiati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Căutarea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de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sens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devine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45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geometrie</a:t>
            </a:r>
            <a:r>
              <a:rPr lang="en-US" sz="1450" b="0" strike="noStrike" spc="-1" dirty="0">
                <a:solidFill>
                  <a:srgbClr val="5C6B7A"/>
                </a:solidFill>
                <a:latin typeface="Inter"/>
                <a:ea typeface="Inter"/>
              </a:rPr>
              <a:t>.</a:t>
            </a:r>
            <a:endParaRPr lang="en-US" sz="1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777240" y="2423160"/>
            <a:ext cx="5668560" cy="456480"/>
          </a:xfrm>
          <a:prstGeom prst="rect">
            <a:avLst/>
          </a:prstGeom>
          <a:solidFill>
            <a:srgbClr val="EAE3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7181C"/>
                </a:solidFill>
                <a:latin typeface="IBM Plex Mono"/>
                <a:ea typeface="IBM Plex Mono"/>
              </a:rPr>
              <a:t>„pisica doarme”</a:t>
            </a:r>
            <a:r>
              <a:rPr lang="en-US" sz="1300" b="0" strike="noStrike" spc="-1">
                <a:solidFill>
                  <a:srgbClr val="A9692A"/>
                </a:solidFill>
                <a:latin typeface="IBM Plex Mono"/>
                <a:ea typeface="IBM Plex Mono"/>
              </a:rPr>
              <a:t>  →  [ 0.12, −0.88, 0.34, … , 0.07 ]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777240" y="3154680"/>
            <a:ext cx="566856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B0462E"/>
                </a:solidFill>
                <a:latin typeface="Inter"/>
                <a:ea typeface="Inter"/>
              </a:rPr>
              <a:t>Regula de aur.  </a:t>
            </a:r>
            <a:r>
              <a:rPr lang="en-US" sz="1350" b="0" strike="noStrike" spc="-1">
                <a:solidFill>
                  <a:srgbClr val="5C6B7A"/>
                </a:solidFill>
                <a:latin typeface="Inter"/>
                <a:ea typeface="Inter"/>
              </a:rPr>
              <a:t>Folosești ACELAȘI model de embedding la indexare și la interogare. Altfel vectorii trăiesc în spații diferite și „apropierea” nu mai înseamnă nimic.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777240" y="4434840"/>
            <a:ext cx="56685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spc="-1" dirty="0" err="1">
                <a:solidFill>
                  <a:srgbClr val="5C6B7A"/>
                </a:solidFill>
                <a:latin typeface="Inter"/>
                <a:ea typeface="Inter"/>
              </a:rPr>
              <a:t>Modelul</a:t>
            </a:r>
            <a:r>
              <a:rPr lang="en-US" sz="1300" spc="-1" dirty="0">
                <a:solidFill>
                  <a:srgbClr val="5C6B7A"/>
                </a:solidFill>
                <a:latin typeface="Inter"/>
                <a:ea typeface="Inter"/>
              </a:rPr>
              <a:t> de embedding </a:t>
            </a:r>
            <a:r>
              <a:rPr lang="en-US" sz="1300" spc="-1" dirty="0" err="1">
                <a:solidFill>
                  <a:srgbClr val="5C6B7A"/>
                </a:solidFill>
                <a:latin typeface="Inter"/>
                <a:ea typeface="Inter"/>
              </a:rPr>
              <a:t>determina</a:t>
            </a:r>
            <a:r>
              <a:rPr lang="en-US" sz="1300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300" spc="-1" dirty="0" err="1">
                <a:solidFill>
                  <a:srgbClr val="5C6B7A"/>
                </a:solidFill>
                <a:latin typeface="Inter"/>
                <a:ea typeface="Inter"/>
              </a:rPr>
              <a:t>ce</a:t>
            </a:r>
            <a:r>
              <a:rPr lang="en-US" sz="1300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300" spc="-1" dirty="0" err="1">
                <a:solidFill>
                  <a:srgbClr val="5C6B7A"/>
                </a:solidFill>
                <a:latin typeface="Inter"/>
                <a:ea typeface="Inter"/>
              </a:rPr>
              <a:t>texte</a:t>
            </a:r>
            <a:r>
              <a:rPr lang="en-US" sz="1300" spc="-1" dirty="0">
                <a:solidFill>
                  <a:srgbClr val="5C6B7A"/>
                </a:solidFill>
                <a:latin typeface="Inter"/>
                <a:ea typeface="Inter"/>
              </a:rPr>
              <a:t> sunt considerate </a:t>
            </a:r>
            <a:r>
              <a:rPr lang="en-US" sz="1300" spc="-1">
                <a:solidFill>
                  <a:srgbClr val="5C6B7A"/>
                </a:solidFill>
                <a:latin typeface="Inter"/>
                <a:ea typeface="Inter"/>
              </a:rPr>
              <a:t>asemanatoare</a:t>
            </a: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: </a:t>
            </a:r>
            <a:r>
              <a:rPr lang="en-US" sz="13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un model </a:t>
            </a:r>
            <a:r>
              <a:rPr lang="en-US" sz="13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antrenat</a:t>
            </a:r>
            <a:r>
              <a:rPr lang="en-US" sz="13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pe cod </a:t>
            </a:r>
            <a:r>
              <a:rPr lang="en-US" sz="13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vede</a:t>
            </a:r>
            <a:r>
              <a:rPr lang="en-US" sz="13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3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altă</a:t>
            </a:r>
            <a:r>
              <a:rPr lang="en-US" sz="13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3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apropiere</a:t>
            </a:r>
            <a:r>
              <a:rPr lang="en-US" sz="13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3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decât</a:t>
            </a:r>
            <a:r>
              <a:rPr lang="en-US" sz="13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3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unul</a:t>
            </a:r>
            <a:r>
              <a:rPr lang="en-US" sz="13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</a:t>
            </a:r>
            <a:r>
              <a:rPr lang="en-US" sz="13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antrenat</a:t>
            </a:r>
            <a:r>
              <a:rPr lang="en-US" sz="13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pe </a:t>
            </a:r>
            <a:r>
              <a:rPr lang="en-US" sz="1300" b="0" strike="noStrike" spc="-1" dirty="0" err="1">
                <a:solidFill>
                  <a:srgbClr val="5C6B7A"/>
                </a:solidFill>
                <a:latin typeface="Inter"/>
                <a:ea typeface="Inter"/>
              </a:rPr>
              <a:t>limbaj</a:t>
            </a:r>
            <a:r>
              <a:rPr lang="en-US" sz="1300" b="0" strike="noStrike" spc="-1" dirty="0">
                <a:solidFill>
                  <a:srgbClr val="5C6B7A"/>
                </a:solidFill>
                <a:latin typeface="Inter"/>
                <a:ea typeface="Inter"/>
              </a:rPr>
              <a:t> juridic.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7"/>
          <p:cNvSpPr/>
          <p:nvPr/>
        </p:nvSpPr>
        <p:spPr>
          <a:xfrm>
            <a:off x="6858000" y="2331720"/>
            <a:ext cx="4552920" cy="3519720"/>
          </a:xfrm>
          <a:prstGeom prst="roundRect">
            <a:avLst>
              <a:gd name="adj" fmla="val 1558"/>
            </a:avLst>
          </a:prstGeom>
          <a:solidFill>
            <a:srgbClr val="17181C"/>
          </a:solidFill>
          <a:ln w="12700">
            <a:solidFill>
              <a:srgbClr val="1718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6858000" y="2532960"/>
            <a:ext cx="45529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197">
                <a:solidFill>
                  <a:srgbClr val="C8843C"/>
                </a:solidFill>
                <a:latin typeface="IBM Plex Mono"/>
                <a:ea typeface="IBM Plex Mono"/>
              </a:rPr>
              <a:t>SPAȚIUL SEMANTIC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9"/>
          <p:cNvSpPr/>
          <p:nvPr/>
        </p:nvSpPr>
        <p:spPr>
          <a:xfrm>
            <a:off x="8028360" y="3493080"/>
            <a:ext cx="182160" cy="18216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10"/>
          <p:cNvSpPr/>
          <p:nvPr/>
        </p:nvSpPr>
        <p:spPr>
          <a:xfrm>
            <a:off x="8385120" y="3322800"/>
            <a:ext cx="182160" cy="18216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11"/>
          <p:cNvSpPr/>
          <p:nvPr/>
        </p:nvSpPr>
        <p:spPr>
          <a:xfrm>
            <a:off x="7814520" y="3719880"/>
            <a:ext cx="182160" cy="18216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12"/>
          <p:cNvSpPr/>
          <p:nvPr/>
        </p:nvSpPr>
        <p:spPr>
          <a:xfrm>
            <a:off x="8242560" y="3663000"/>
            <a:ext cx="182160" cy="18216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3"/>
          <p:cNvSpPr/>
          <p:nvPr/>
        </p:nvSpPr>
        <p:spPr>
          <a:xfrm>
            <a:off x="8670240" y="3464640"/>
            <a:ext cx="182160" cy="18216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14"/>
          <p:cNvSpPr/>
          <p:nvPr/>
        </p:nvSpPr>
        <p:spPr>
          <a:xfrm>
            <a:off x="7992720" y="3237840"/>
            <a:ext cx="182160" cy="18216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15"/>
          <p:cNvSpPr/>
          <p:nvPr/>
        </p:nvSpPr>
        <p:spPr>
          <a:xfrm>
            <a:off x="9668880" y="4343400"/>
            <a:ext cx="182160" cy="182160"/>
          </a:xfrm>
          <a:prstGeom prst="ellipse">
            <a:avLst/>
          </a:prstGeom>
          <a:solidFill>
            <a:srgbClr val="6FA3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16"/>
          <p:cNvSpPr/>
          <p:nvPr/>
        </p:nvSpPr>
        <p:spPr>
          <a:xfrm>
            <a:off x="10025640" y="4116600"/>
            <a:ext cx="182160" cy="182160"/>
          </a:xfrm>
          <a:prstGeom prst="ellipse">
            <a:avLst/>
          </a:prstGeom>
          <a:solidFill>
            <a:srgbClr val="6FA3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17"/>
          <p:cNvSpPr/>
          <p:nvPr/>
        </p:nvSpPr>
        <p:spPr>
          <a:xfrm>
            <a:off x="9455040" y="4060080"/>
            <a:ext cx="182160" cy="182160"/>
          </a:xfrm>
          <a:prstGeom prst="ellipse">
            <a:avLst/>
          </a:prstGeom>
          <a:solidFill>
            <a:srgbClr val="6FA3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18"/>
          <p:cNvSpPr/>
          <p:nvPr/>
        </p:nvSpPr>
        <p:spPr>
          <a:xfrm>
            <a:off x="9954000" y="4513320"/>
            <a:ext cx="182160" cy="182160"/>
          </a:xfrm>
          <a:prstGeom prst="ellipse">
            <a:avLst/>
          </a:prstGeom>
          <a:solidFill>
            <a:srgbClr val="6FA3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19"/>
          <p:cNvSpPr/>
          <p:nvPr/>
        </p:nvSpPr>
        <p:spPr>
          <a:xfrm>
            <a:off x="9597600" y="4626720"/>
            <a:ext cx="182160" cy="182160"/>
          </a:xfrm>
          <a:prstGeom prst="ellipse">
            <a:avLst/>
          </a:prstGeom>
          <a:solidFill>
            <a:srgbClr val="6FA3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20"/>
          <p:cNvSpPr/>
          <p:nvPr/>
        </p:nvSpPr>
        <p:spPr>
          <a:xfrm>
            <a:off x="10239480" y="3379680"/>
            <a:ext cx="182160" cy="182160"/>
          </a:xfrm>
          <a:prstGeom prst="ellipse">
            <a:avLst/>
          </a:prstGeom>
          <a:solidFill>
            <a:srgbClr val="8FBF9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1"/>
          <p:cNvSpPr/>
          <p:nvPr/>
        </p:nvSpPr>
        <p:spPr>
          <a:xfrm>
            <a:off x="10524600" y="3606480"/>
            <a:ext cx="182160" cy="182160"/>
          </a:xfrm>
          <a:prstGeom prst="ellipse">
            <a:avLst/>
          </a:prstGeom>
          <a:solidFill>
            <a:srgbClr val="8FBF9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22"/>
          <p:cNvSpPr/>
          <p:nvPr/>
        </p:nvSpPr>
        <p:spPr>
          <a:xfrm>
            <a:off x="10096920" y="3719880"/>
            <a:ext cx="182160" cy="182160"/>
          </a:xfrm>
          <a:prstGeom prst="ellipse">
            <a:avLst/>
          </a:prstGeom>
          <a:solidFill>
            <a:srgbClr val="8FBF9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23"/>
          <p:cNvSpPr/>
          <p:nvPr/>
        </p:nvSpPr>
        <p:spPr>
          <a:xfrm>
            <a:off x="7406640" y="283464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strike="noStrike" spc="-1">
                <a:solidFill>
                  <a:srgbClr val="C8843C"/>
                </a:solidFill>
                <a:latin typeface="Inter"/>
                <a:ea typeface="Inter"/>
              </a:rPr>
              <a:t>animale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24"/>
          <p:cNvSpPr/>
          <p:nvPr/>
        </p:nvSpPr>
        <p:spPr>
          <a:xfrm>
            <a:off x="9509760" y="502920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strike="noStrike" spc="-1">
                <a:solidFill>
                  <a:srgbClr val="6FA3D0"/>
                </a:solidFill>
                <a:latin typeface="Inter"/>
                <a:ea typeface="Inter"/>
              </a:rPr>
              <a:t>vehicule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25"/>
          <p:cNvSpPr/>
          <p:nvPr/>
        </p:nvSpPr>
        <p:spPr>
          <a:xfrm>
            <a:off x="10058400" y="292608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strike="noStrike" spc="-1">
                <a:solidFill>
                  <a:srgbClr val="8FBF9F"/>
                </a:solidFill>
                <a:latin typeface="Inter"/>
                <a:ea typeface="Inter"/>
              </a:rPr>
              <a:t>plante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26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27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14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PIPELINE · MODELE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Ce model de embedding alegi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Trei tipuri de modele. Diferența care contează nu e scorul de pe internet, ci care înțelege cel mai bine datele tale.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4"/>
          <p:cNvSpPr/>
          <p:nvPr/>
        </p:nvSpPr>
        <p:spPr>
          <a:xfrm>
            <a:off x="777240" y="2286000"/>
            <a:ext cx="3361320" cy="2468160"/>
          </a:xfrm>
          <a:prstGeom prst="roundRect">
            <a:avLst>
              <a:gd name="adj" fmla="val 2222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5"/>
          <p:cNvSpPr/>
          <p:nvPr/>
        </p:nvSpPr>
        <p:spPr>
          <a:xfrm>
            <a:off x="777240" y="2286000"/>
            <a:ext cx="3361320" cy="6336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6"/>
          <p:cNvSpPr/>
          <p:nvPr/>
        </p:nvSpPr>
        <p:spPr>
          <a:xfrm>
            <a:off x="1069920" y="2560320"/>
            <a:ext cx="281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Prin API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7"/>
          <p:cNvSpPr/>
          <p:nvPr/>
        </p:nvSpPr>
        <p:spPr>
          <a:xfrm>
            <a:off x="1069920" y="3127320"/>
            <a:ext cx="2812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46">
                <a:solidFill>
                  <a:srgbClr val="8A8270"/>
                </a:solidFill>
                <a:latin typeface="IBM Plex Mono"/>
                <a:ea typeface="IBM Plex Mono"/>
              </a:rPr>
              <a:t>OpenAI · Cohere · Voyage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8"/>
          <p:cNvSpPr/>
          <p:nvPr/>
        </p:nvSpPr>
        <p:spPr>
          <a:xfrm>
            <a:off x="1069920" y="3493080"/>
            <a:ext cx="277596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1069920" y="3675960"/>
            <a:ext cx="27943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300" b="1" strike="noStrike" spc="-1">
                <a:solidFill>
                  <a:srgbClr val="3E6B5A"/>
                </a:solidFill>
                <a:latin typeface="Inter"/>
                <a:ea typeface="Inter"/>
              </a:rPr>
              <a:t>＋  </a:t>
            </a:r>
            <a:r>
              <a:rPr lang="en-US" sz="1300" b="0" strike="noStrike" spc="-1">
                <a:solidFill>
                  <a:srgbClr val="17181C"/>
                </a:solidFill>
                <a:latin typeface="Inter"/>
                <a:ea typeface="Inter"/>
              </a:rPr>
              <a:t>Cel mai simplu, calitate mare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10"/>
          <p:cNvSpPr/>
          <p:nvPr/>
        </p:nvSpPr>
        <p:spPr>
          <a:xfrm>
            <a:off x="1069920" y="4187880"/>
            <a:ext cx="27943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B0462E"/>
                </a:solidFill>
                <a:latin typeface="Inter"/>
                <a:ea typeface="Inter"/>
              </a:rPr>
              <a:t>−  </a:t>
            </a: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Plătești pe folosire, datele ies afară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11"/>
          <p:cNvSpPr/>
          <p:nvPr/>
        </p:nvSpPr>
        <p:spPr>
          <a:xfrm>
            <a:off x="4413600" y="2286000"/>
            <a:ext cx="3361320" cy="2468160"/>
          </a:xfrm>
          <a:prstGeom prst="roundRect">
            <a:avLst>
              <a:gd name="adj" fmla="val 2222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12"/>
          <p:cNvSpPr/>
          <p:nvPr/>
        </p:nvSpPr>
        <p:spPr>
          <a:xfrm>
            <a:off x="4413600" y="2286000"/>
            <a:ext cx="3361320" cy="6336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3"/>
          <p:cNvSpPr/>
          <p:nvPr/>
        </p:nvSpPr>
        <p:spPr>
          <a:xfrm>
            <a:off x="4706280" y="2560320"/>
            <a:ext cx="281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Open-source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4"/>
          <p:cNvSpPr/>
          <p:nvPr/>
        </p:nvSpPr>
        <p:spPr>
          <a:xfrm>
            <a:off x="4706280" y="3127320"/>
            <a:ext cx="2812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46">
                <a:solidFill>
                  <a:srgbClr val="8A8270"/>
                </a:solidFill>
                <a:latin typeface="IBM Plex Mono"/>
                <a:ea typeface="IBM Plex Mono"/>
              </a:rPr>
              <a:t>BGE · E5 · Nomic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5"/>
          <p:cNvSpPr/>
          <p:nvPr/>
        </p:nvSpPr>
        <p:spPr>
          <a:xfrm>
            <a:off x="4706280" y="3493080"/>
            <a:ext cx="277596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6"/>
          <p:cNvSpPr/>
          <p:nvPr/>
        </p:nvSpPr>
        <p:spPr>
          <a:xfrm>
            <a:off x="4706280" y="3675960"/>
            <a:ext cx="27943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300" b="1" strike="noStrike" spc="-1">
                <a:solidFill>
                  <a:srgbClr val="3E6B5A"/>
                </a:solidFill>
                <a:latin typeface="Inter"/>
                <a:ea typeface="Inter"/>
              </a:rPr>
              <a:t>＋  </a:t>
            </a:r>
            <a:r>
              <a:rPr lang="en-US" sz="1300" b="0" strike="noStrike" spc="-1">
                <a:solidFill>
                  <a:srgbClr val="17181C"/>
                </a:solidFill>
                <a:latin typeface="Inter"/>
                <a:ea typeface="Inter"/>
              </a:rPr>
              <a:t>Gratuit și rulează la tine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7"/>
          <p:cNvSpPr/>
          <p:nvPr/>
        </p:nvSpPr>
        <p:spPr>
          <a:xfrm>
            <a:off x="4706280" y="4187880"/>
            <a:ext cx="27943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B0462E"/>
                </a:solidFill>
                <a:latin typeface="Inter"/>
                <a:ea typeface="Inter"/>
              </a:rPr>
              <a:t>−  </a:t>
            </a: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Trebuie să-l găzduiești singur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8"/>
          <p:cNvSpPr/>
          <p:nvPr/>
        </p:nvSpPr>
        <p:spPr>
          <a:xfrm>
            <a:off x="8049600" y="2286000"/>
            <a:ext cx="3361320" cy="2468160"/>
          </a:xfrm>
          <a:prstGeom prst="roundRect">
            <a:avLst>
              <a:gd name="adj" fmla="val 2222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9"/>
          <p:cNvSpPr/>
          <p:nvPr/>
        </p:nvSpPr>
        <p:spPr>
          <a:xfrm>
            <a:off x="8049600" y="2286000"/>
            <a:ext cx="3361320" cy="63360"/>
          </a:xfrm>
          <a:prstGeom prst="rect">
            <a:avLst/>
          </a:prstGeom>
          <a:solidFill>
            <a:srgbClr val="3E6B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20"/>
          <p:cNvSpPr/>
          <p:nvPr/>
        </p:nvSpPr>
        <p:spPr>
          <a:xfrm>
            <a:off x="8342280" y="2560320"/>
            <a:ext cx="28126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Multilingv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21"/>
          <p:cNvSpPr/>
          <p:nvPr/>
        </p:nvSpPr>
        <p:spPr>
          <a:xfrm>
            <a:off x="8342280" y="3127320"/>
            <a:ext cx="2812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46">
                <a:solidFill>
                  <a:srgbClr val="8A8270"/>
                </a:solidFill>
                <a:latin typeface="IBM Plex Mono"/>
                <a:ea typeface="IBM Plex Mono"/>
              </a:rPr>
              <a:t>multilingual-e5 · BGE-M3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22"/>
          <p:cNvSpPr/>
          <p:nvPr/>
        </p:nvSpPr>
        <p:spPr>
          <a:xfrm>
            <a:off x="8342280" y="3493080"/>
            <a:ext cx="277596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23"/>
          <p:cNvSpPr/>
          <p:nvPr/>
        </p:nvSpPr>
        <p:spPr>
          <a:xfrm>
            <a:off x="8342280" y="3675960"/>
            <a:ext cx="27943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zh-CN" sz="1300" b="1" strike="noStrike" spc="-1">
                <a:solidFill>
                  <a:srgbClr val="3E6B5A"/>
                </a:solidFill>
                <a:latin typeface="Inter"/>
                <a:ea typeface="Inter"/>
              </a:rPr>
              <a:t>＋  </a:t>
            </a:r>
            <a:r>
              <a:rPr lang="en-US" sz="1300" b="0" strike="noStrike" spc="-1">
                <a:solidFill>
                  <a:srgbClr val="17181C"/>
                </a:solidFill>
                <a:latin typeface="Inter"/>
                <a:ea typeface="Inter"/>
              </a:rPr>
              <a:t>Înțelege bine și alte limbi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24"/>
          <p:cNvSpPr/>
          <p:nvPr/>
        </p:nvSpPr>
        <p:spPr>
          <a:xfrm>
            <a:off x="8342280" y="4187880"/>
            <a:ext cx="27943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B0462E"/>
                </a:solidFill>
                <a:latin typeface="Inter"/>
                <a:ea typeface="Inter"/>
              </a:rPr>
              <a:t>−  </a:t>
            </a: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Uneori mai slab pe engleză pură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26"/>
          <p:cNvSpPr/>
          <p:nvPr/>
        </p:nvSpPr>
        <p:spPr>
          <a:xfrm>
            <a:off x="1143000" y="517536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27"/>
          <p:cNvSpPr/>
          <p:nvPr/>
        </p:nvSpPr>
        <p:spPr>
          <a:xfrm>
            <a:off x="1143000" y="5449680"/>
            <a:ext cx="99021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28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29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15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PIPELINE · STOCARE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Baza vectorială și căutarea ANN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Compararea cu fiecare vector (exact) e O(N), moare la milioane de documente. Indecșii ANN sacrifică puțin recall pentru un salt uriaș de viteză.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5"/>
          <p:cNvSpPr/>
          <p:nvPr/>
        </p:nvSpPr>
        <p:spPr>
          <a:xfrm>
            <a:off x="777240" y="2770560"/>
            <a:ext cx="145440" cy="145440"/>
          </a:xfrm>
          <a:prstGeom prst="ellipse">
            <a:avLst/>
          </a:prstGeom>
          <a:solidFill>
            <a:srgbClr val="5C6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6"/>
          <p:cNvSpPr/>
          <p:nvPr/>
        </p:nvSpPr>
        <p:spPr>
          <a:xfrm>
            <a:off x="1097280" y="269748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7181C"/>
                </a:solidFill>
                <a:latin typeface="Inter"/>
                <a:ea typeface="Inter"/>
              </a:rPr>
              <a:t>Exact (brute-force)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7"/>
          <p:cNvSpPr/>
          <p:nvPr/>
        </p:nvSpPr>
        <p:spPr>
          <a:xfrm>
            <a:off x="1097280" y="3044880"/>
            <a:ext cx="521136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8"/>
          <p:cNvSpPr/>
          <p:nvPr/>
        </p:nvSpPr>
        <p:spPr>
          <a:xfrm>
            <a:off x="777240" y="3822120"/>
            <a:ext cx="145440" cy="14544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9"/>
          <p:cNvSpPr/>
          <p:nvPr/>
        </p:nvSpPr>
        <p:spPr>
          <a:xfrm>
            <a:off x="1097280" y="374904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7181C"/>
                </a:solidFill>
                <a:latin typeface="Inter"/>
                <a:ea typeface="Inter"/>
              </a:rPr>
              <a:t>ANN (HNSW, LSH)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0"/>
          <p:cNvSpPr/>
          <p:nvPr/>
        </p:nvSpPr>
        <p:spPr>
          <a:xfrm>
            <a:off x="1097280" y="4096440"/>
            <a:ext cx="521136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11"/>
          <p:cNvSpPr/>
          <p:nvPr/>
        </p:nvSpPr>
        <p:spPr>
          <a:xfrm>
            <a:off x="777240" y="4846320"/>
            <a:ext cx="54856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2"/>
          <p:cNvSpPr/>
          <p:nvPr/>
        </p:nvSpPr>
        <p:spPr>
          <a:xfrm>
            <a:off x="6766560" y="2331720"/>
            <a:ext cx="4644360" cy="1599480"/>
          </a:xfrm>
          <a:prstGeom prst="roundRect">
            <a:avLst>
              <a:gd name="adj" fmla="val 3429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13"/>
          <p:cNvSpPr/>
          <p:nvPr/>
        </p:nvSpPr>
        <p:spPr>
          <a:xfrm>
            <a:off x="7086600" y="2541960"/>
            <a:ext cx="40042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Filtrare pe metadate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4"/>
          <p:cNvSpPr/>
          <p:nvPr/>
        </p:nvSpPr>
        <p:spPr>
          <a:xfrm>
            <a:off x="7086600" y="2971800"/>
            <a:ext cx="400428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Cauți similaritate DAR și „doar docurile la care userul are acces” / „doar după 2024”. Fără asta, ai scurgeri și relevanță proastă.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5"/>
          <p:cNvSpPr/>
          <p:nvPr/>
        </p:nvSpPr>
        <p:spPr>
          <a:xfrm>
            <a:off x="6766560" y="4114800"/>
            <a:ext cx="4644360" cy="1736640"/>
          </a:xfrm>
          <a:prstGeom prst="roundRect">
            <a:avLst>
              <a:gd name="adj" fmla="val 3158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6"/>
          <p:cNvSpPr/>
          <p:nvPr/>
        </p:nvSpPr>
        <p:spPr>
          <a:xfrm>
            <a:off x="7086600" y="4297680"/>
            <a:ext cx="40042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Opțiuni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17"/>
          <p:cNvSpPr/>
          <p:nvPr/>
        </p:nvSpPr>
        <p:spPr>
          <a:xfrm>
            <a:off x="7086600" y="4736520"/>
            <a:ext cx="400428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17181C"/>
                </a:solidFill>
                <a:latin typeface="Inter"/>
                <a:ea typeface="Inter"/>
              </a:rPr>
              <a:t>Dedicate: </a:t>
            </a:r>
            <a:r>
              <a:rPr lang="en-US" sz="1200" b="0" strike="noStrike" spc="-1">
                <a:solidFill>
                  <a:srgbClr val="5C6B7A"/>
                </a:solidFill>
                <a:latin typeface="Inter"/>
                <a:ea typeface="Inter"/>
              </a:rPr>
              <a:t>Pinecone, Weaviate, Qdrant, Milvus.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17181C"/>
                </a:solidFill>
                <a:latin typeface="Inter"/>
                <a:ea typeface="Inter"/>
              </a:rPr>
              <a:t>Pe infra existentă: </a:t>
            </a:r>
            <a:r>
              <a:rPr lang="en-US" sz="1200" b="0" strike="noStrike" spc="-1">
                <a:solidFill>
                  <a:srgbClr val="5C6B7A"/>
                </a:solidFill>
                <a:latin typeface="Inter"/>
                <a:ea typeface="Inter"/>
              </a:rPr>
              <a:t>pgvector (Postgres), Elastic.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7181C"/>
                </a:solidFill>
                <a:latin typeface="Inter"/>
                <a:ea typeface="Inter"/>
              </a:rPr>
              <a:t>Local / prototip: </a:t>
            </a:r>
            <a:r>
              <a:rPr lang="en-US" sz="1200" b="0" strike="noStrike" spc="-1">
                <a:solidFill>
                  <a:srgbClr val="5C6B7A"/>
                </a:solidFill>
                <a:latin typeface="Inter"/>
                <a:ea typeface="Inter"/>
              </a:rPr>
              <a:t>Chroma, FAISS.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18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19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16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PIPELINE · SIMILARITATE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Ce înseamnă „aproape”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Aproape toate sistemele folosesc similaritatea cosinus: unghiul dintre doi vectori, nu distanța. Direcția poartă sensul; mărimea, mai puțin.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4"/>
          <p:cNvSpPr/>
          <p:nvPr/>
        </p:nvSpPr>
        <p:spPr>
          <a:xfrm>
            <a:off x="777240" y="2331720"/>
            <a:ext cx="3361320" cy="2285280"/>
          </a:xfrm>
          <a:prstGeom prst="roundRect">
            <a:avLst>
              <a:gd name="adj" fmla="val 2400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5"/>
          <p:cNvSpPr/>
          <p:nvPr/>
        </p:nvSpPr>
        <p:spPr>
          <a:xfrm>
            <a:off x="777240" y="2331720"/>
            <a:ext cx="3361320" cy="6336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6"/>
          <p:cNvSpPr/>
          <p:nvPr/>
        </p:nvSpPr>
        <p:spPr>
          <a:xfrm>
            <a:off x="1051560" y="2587680"/>
            <a:ext cx="2812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Cosinus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7"/>
          <p:cNvSpPr/>
          <p:nvPr/>
        </p:nvSpPr>
        <p:spPr>
          <a:xfrm>
            <a:off x="1051560" y="3108960"/>
            <a:ext cx="2812680" cy="547920"/>
          </a:xfrm>
          <a:prstGeom prst="roundRect">
            <a:avLst>
              <a:gd name="adj" fmla="val 6667"/>
            </a:avLst>
          </a:prstGeom>
          <a:solidFill>
            <a:srgbClr val="1718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8"/>
          <p:cNvSpPr/>
          <p:nvPr/>
        </p:nvSpPr>
        <p:spPr>
          <a:xfrm>
            <a:off x="1051560" y="3108960"/>
            <a:ext cx="28126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8843C"/>
                </a:solidFill>
                <a:latin typeface="IBM Plex Mono"/>
                <a:ea typeface="IBM Plex Mono"/>
              </a:rPr>
              <a:t>cos(θ) = A·B / (‖A‖‖B‖)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9"/>
          <p:cNvSpPr/>
          <p:nvPr/>
        </p:nvSpPr>
        <p:spPr>
          <a:xfrm>
            <a:off x="1051560" y="3749040"/>
            <a:ext cx="28310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C6B7A"/>
                </a:solidFill>
                <a:latin typeface="Inter"/>
                <a:ea typeface="Inter"/>
              </a:rPr>
              <a:t>Unghiul dintre vectori. Standardul în RAG. Valori în [−1, 1].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0"/>
          <p:cNvSpPr/>
          <p:nvPr/>
        </p:nvSpPr>
        <p:spPr>
          <a:xfrm>
            <a:off x="4413600" y="2331720"/>
            <a:ext cx="3361320" cy="2285280"/>
          </a:xfrm>
          <a:prstGeom prst="roundRect">
            <a:avLst>
              <a:gd name="adj" fmla="val 2400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1"/>
          <p:cNvSpPr/>
          <p:nvPr/>
        </p:nvSpPr>
        <p:spPr>
          <a:xfrm>
            <a:off x="4413600" y="2331720"/>
            <a:ext cx="3361320" cy="6336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12"/>
          <p:cNvSpPr/>
          <p:nvPr/>
        </p:nvSpPr>
        <p:spPr>
          <a:xfrm>
            <a:off x="4687920" y="2587680"/>
            <a:ext cx="2812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Produs scalar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3"/>
          <p:cNvSpPr/>
          <p:nvPr/>
        </p:nvSpPr>
        <p:spPr>
          <a:xfrm>
            <a:off x="4687920" y="3108960"/>
            <a:ext cx="2812680" cy="547920"/>
          </a:xfrm>
          <a:prstGeom prst="roundRect">
            <a:avLst>
              <a:gd name="adj" fmla="val 6667"/>
            </a:avLst>
          </a:prstGeom>
          <a:solidFill>
            <a:srgbClr val="1718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14"/>
          <p:cNvSpPr/>
          <p:nvPr/>
        </p:nvSpPr>
        <p:spPr>
          <a:xfrm>
            <a:off x="4687920" y="3108960"/>
            <a:ext cx="28126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8843C"/>
                </a:solidFill>
                <a:latin typeface="IBM Plex Mono"/>
                <a:ea typeface="IBM Plex Mono"/>
              </a:rPr>
              <a:t>A · B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15"/>
          <p:cNvSpPr/>
          <p:nvPr/>
        </p:nvSpPr>
        <p:spPr>
          <a:xfrm>
            <a:off x="4687920" y="3749040"/>
            <a:ext cx="28310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C6B7A"/>
                </a:solidFill>
                <a:latin typeface="Inter"/>
                <a:ea typeface="Inter"/>
              </a:rPr>
              <a:t>Rapid. Egal cu cosinusul dacă vectorii sunt normalizați.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16"/>
          <p:cNvSpPr/>
          <p:nvPr/>
        </p:nvSpPr>
        <p:spPr>
          <a:xfrm>
            <a:off x="8049600" y="2331720"/>
            <a:ext cx="3361320" cy="2285280"/>
          </a:xfrm>
          <a:prstGeom prst="roundRect">
            <a:avLst>
              <a:gd name="adj" fmla="val 2400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17"/>
          <p:cNvSpPr/>
          <p:nvPr/>
        </p:nvSpPr>
        <p:spPr>
          <a:xfrm>
            <a:off x="8049600" y="2331720"/>
            <a:ext cx="3361320" cy="63360"/>
          </a:xfrm>
          <a:prstGeom prst="rect">
            <a:avLst/>
          </a:prstGeom>
          <a:solidFill>
            <a:srgbClr val="5C6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18"/>
          <p:cNvSpPr/>
          <p:nvPr/>
        </p:nvSpPr>
        <p:spPr>
          <a:xfrm>
            <a:off x="8323920" y="2587680"/>
            <a:ext cx="2812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Euclidiană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9"/>
          <p:cNvSpPr/>
          <p:nvPr/>
        </p:nvSpPr>
        <p:spPr>
          <a:xfrm>
            <a:off x="8323920" y="3108960"/>
            <a:ext cx="2812680" cy="547920"/>
          </a:xfrm>
          <a:prstGeom prst="roundRect">
            <a:avLst>
              <a:gd name="adj" fmla="val 6667"/>
            </a:avLst>
          </a:prstGeom>
          <a:solidFill>
            <a:srgbClr val="1718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20"/>
          <p:cNvSpPr/>
          <p:nvPr/>
        </p:nvSpPr>
        <p:spPr>
          <a:xfrm>
            <a:off x="8323920" y="3108960"/>
            <a:ext cx="28126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8843C"/>
                </a:solidFill>
                <a:latin typeface="IBM Plex Mono"/>
                <a:ea typeface="IBM Plex Mono"/>
              </a:rPr>
              <a:t>‖A − B‖₂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21"/>
          <p:cNvSpPr/>
          <p:nvPr/>
        </p:nvSpPr>
        <p:spPr>
          <a:xfrm>
            <a:off x="8323920" y="3749040"/>
            <a:ext cx="283104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C6B7A"/>
                </a:solidFill>
                <a:latin typeface="Inter"/>
                <a:ea typeface="Inter"/>
              </a:rPr>
              <a:t>Distanța în linie dreaptă. Sensibilă la mărime.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22"/>
          <p:cNvSpPr/>
          <p:nvPr/>
        </p:nvSpPr>
        <p:spPr>
          <a:xfrm>
            <a:off x="777240" y="4937760"/>
            <a:ext cx="10633680" cy="913680"/>
          </a:xfrm>
          <a:prstGeom prst="roundRect">
            <a:avLst>
              <a:gd name="adj" fmla="val 6000"/>
            </a:avLst>
          </a:prstGeom>
          <a:solidFill>
            <a:srgbClr val="EAE3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23"/>
          <p:cNvSpPr/>
          <p:nvPr/>
        </p:nvSpPr>
        <p:spPr>
          <a:xfrm>
            <a:off x="1143000" y="4937760"/>
            <a:ext cx="99021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A9692A"/>
                </a:solidFill>
                <a:latin typeface="Inter"/>
                <a:ea typeface="Inter"/>
              </a:rPr>
              <a:t>Intuiția:  </a:t>
            </a:r>
            <a:r>
              <a:rPr lang="en-US" sz="1300" b="0" strike="noStrike" spc="-1">
                <a:solidFill>
                  <a:srgbClr val="17181C"/>
                </a:solidFill>
                <a:latin typeface="Inter"/>
                <a:ea typeface="Inter"/>
              </a:rPr>
              <a:t>două texte sunt „apropiate” dacă vectorii lor arată în aceeași direcție. Cu vectori normalizați, cosinusul și produsul scalar dau aceeași ordine, de aceea mulți indecși ANN folosesc produsul scalar, e mai ieftin de calculat.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24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25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17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PIPELINE · RECUPERARE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De ce câștigă căutarea hibridă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Două lumi cu puncte oarbe complementare. Densă prinde sensul; rară prinde cuvântul exact. Combinația acoperă golurile fiecăreia.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4"/>
          <p:cNvSpPr/>
          <p:nvPr/>
        </p:nvSpPr>
        <p:spPr>
          <a:xfrm>
            <a:off x="777240" y="2286000"/>
            <a:ext cx="3361320" cy="2331000"/>
          </a:xfrm>
          <a:prstGeom prst="roundRect">
            <a:avLst>
              <a:gd name="adj" fmla="val 2353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5"/>
          <p:cNvSpPr/>
          <p:nvPr/>
        </p:nvSpPr>
        <p:spPr>
          <a:xfrm>
            <a:off x="777240" y="2286000"/>
            <a:ext cx="3361320" cy="6336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6"/>
          <p:cNvSpPr/>
          <p:nvPr/>
        </p:nvSpPr>
        <p:spPr>
          <a:xfrm>
            <a:off x="1051560" y="2505600"/>
            <a:ext cx="2812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Densă (semantică)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7"/>
          <p:cNvSpPr/>
          <p:nvPr/>
        </p:nvSpPr>
        <p:spPr>
          <a:xfrm>
            <a:off x="1051560" y="2999160"/>
            <a:ext cx="2812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8270"/>
                </a:solidFill>
                <a:latin typeface="IBM Plex Mono"/>
                <a:ea typeface="IBM Plex Mono"/>
              </a:rPr>
              <a:t>Compară embeddinguri.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8"/>
          <p:cNvSpPr/>
          <p:nvPr/>
        </p:nvSpPr>
        <p:spPr>
          <a:xfrm>
            <a:off x="1051560" y="3310200"/>
            <a:ext cx="2812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3E6B5A"/>
                </a:solidFill>
                <a:latin typeface="Inter"/>
                <a:ea typeface="Inter"/>
              </a:rPr>
              <a:t>Prinde sinonime, parafrazări.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9"/>
          <p:cNvSpPr/>
          <p:nvPr/>
        </p:nvSpPr>
        <p:spPr>
          <a:xfrm>
            <a:off x="1051560" y="3703320"/>
            <a:ext cx="28310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B0462E"/>
                </a:solidFill>
                <a:latin typeface="Inter"/>
                <a:ea typeface="Inter"/>
              </a:rPr>
              <a:t>Punct orb: </a:t>
            </a: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Ratează termeni rari: coduri, ID-uri, nume proprii exacte.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0"/>
          <p:cNvSpPr/>
          <p:nvPr/>
        </p:nvSpPr>
        <p:spPr>
          <a:xfrm>
            <a:off x="4413600" y="2286000"/>
            <a:ext cx="3361320" cy="2331000"/>
          </a:xfrm>
          <a:prstGeom prst="roundRect">
            <a:avLst>
              <a:gd name="adj" fmla="val 2353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1"/>
          <p:cNvSpPr/>
          <p:nvPr/>
        </p:nvSpPr>
        <p:spPr>
          <a:xfrm>
            <a:off x="4413600" y="2286000"/>
            <a:ext cx="3361320" cy="63360"/>
          </a:xfrm>
          <a:prstGeom prst="rect">
            <a:avLst/>
          </a:prstGeom>
          <a:solidFill>
            <a:srgbClr val="5C6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12"/>
          <p:cNvSpPr/>
          <p:nvPr/>
        </p:nvSpPr>
        <p:spPr>
          <a:xfrm>
            <a:off x="4687920" y="2505600"/>
            <a:ext cx="2812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Rară (lexicală)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3"/>
          <p:cNvSpPr/>
          <p:nvPr/>
        </p:nvSpPr>
        <p:spPr>
          <a:xfrm>
            <a:off x="4687920" y="2999160"/>
            <a:ext cx="2812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8270"/>
                </a:solidFill>
                <a:latin typeface="IBM Plex Mono"/>
                <a:ea typeface="IBM Plex Mono"/>
              </a:rPr>
              <a:t>BM25, cuvinte-cheie.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14"/>
          <p:cNvSpPr/>
          <p:nvPr/>
        </p:nvSpPr>
        <p:spPr>
          <a:xfrm>
            <a:off x="4687920" y="3310200"/>
            <a:ext cx="2812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3E6B5A"/>
                </a:solidFill>
                <a:latin typeface="Inter"/>
                <a:ea typeface="Inter"/>
              </a:rPr>
              <a:t>Potrivire exactă, jargon.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15"/>
          <p:cNvSpPr/>
          <p:nvPr/>
        </p:nvSpPr>
        <p:spPr>
          <a:xfrm>
            <a:off x="4687920" y="3703320"/>
            <a:ext cx="28310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B0462E"/>
                </a:solidFill>
                <a:latin typeface="Inter"/>
                <a:ea typeface="Inter"/>
              </a:rPr>
              <a:t>Punct orb: </a:t>
            </a: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Ratează sensul când cuvintele diferă de întrebare.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16"/>
          <p:cNvSpPr/>
          <p:nvPr/>
        </p:nvSpPr>
        <p:spPr>
          <a:xfrm>
            <a:off x="8049600" y="2286000"/>
            <a:ext cx="3361320" cy="2331000"/>
          </a:xfrm>
          <a:prstGeom prst="roundRect">
            <a:avLst>
              <a:gd name="adj" fmla="val 2353"/>
            </a:avLst>
          </a:prstGeom>
          <a:solidFill>
            <a:srgbClr val="FBFAF4"/>
          </a:solidFill>
          <a:ln w="254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17"/>
          <p:cNvSpPr/>
          <p:nvPr/>
        </p:nvSpPr>
        <p:spPr>
          <a:xfrm>
            <a:off x="8049600" y="2286000"/>
            <a:ext cx="3361320" cy="6336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18"/>
          <p:cNvSpPr/>
          <p:nvPr/>
        </p:nvSpPr>
        <p:spPr>
          <a:xfrm>
            <a:off x="8323920" y="2505600"/>
            <a:ext cx="2812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Hibridă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19"/>
          <p:cNvSpPr/>
          <p:nvPr/>
        </p:nvSpPr>
        <p:spPr>
          <a:xfrm>
            <a:off x="8323920" y="2999160"/>
            <a:ext cx="2812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8270"/>
                </a:solidFill>
                <a:latin typeface="IBM Plex Mono"/>
                <a:ea typeface="IBM Plex Mono"/>
              </a:rPr>
              <a:t>Fuzionează ambele.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20"/>
          <p:cNvSpPr/>
          <p:nvPr/>
        </p:nvSpPr>
        <p:spPr>
          <a:xfrm>
            <a:off x="8323920" y="3310200"/>
            <a:ext cx="2812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3E6B5A"/>
                </a:solidFill>
                <a:latin typeface="Inter"/>
                <a:ea typeface="Inter"/>
              </a:rPr>
              <a:t>Robustă în practică.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21"/>
          <p:cNvSpPr/>
          <p:nvPr/>
        </p:nvSpPr>
        <p:spPr>
          <a:xfrm>
            <a:off x="8323920" y="3703320"/>
            <a:ext cx="28310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B0462E"/>
                </a:solidFill>
                <a:latin typeface="Inter"/>
                <a:ea typeface="Inter"/>
              </a:rPr>
              <a:t>Punct orb: </a:t>
            </a: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Mai complexă; trebuie reglat cum combini scorurile.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22"/>
          <p:cNvSpPr/>
          <p:nvPr/>
        </p:nvSpPr>
        <p:spPr>
          <a:xfrm>
            <a:off x="777240" y="4937760"/>
            <a:ext cx="10633680" cy="913680"/>
          </a:xfrm>
          <a:prstGeom prst="roundRect">
            <a:avLst>
              <a:gd name="adj" fmla="val 6000"/>
            </a:avLst>
          </a:prstGeom>
          <a:solidFill>
            <a:srgbClr val="17181C"/>
          </a:solidFill>
          <a:ln w="12700">
            <a:solidFill>
              <a:srgbClr val="1718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23"/>
          <p:cNvSpPr/>
          <p:nvPr/>
        </p:nvSpPr>
        <p:spPr>
          <a:xfrm>
            <a:off x="1143000" y="4937760"/>
            <a:ext cx="990216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C8843C"/>
                </a:solidFill>
                <a:latin typeface="Inter"/>
                <a:ea typeface="Inter"/>
              </a:rPr>
              <a:t>RRF (Reciprocal Rank Fusion).  </a:t>
            </a:r>
            <a:r>
              <a:rPr lang="en-US" sz="1250" b="0" strike="noStrike" spc="-1">
                <a:solidFill>
                  <a:srgbClr val="C9C2B2"/>
                </a:solidFill>
                <a:latin typeface="Inter"/>
                <a:ea typeface="Inter"/>
              </a:rPr>
              <a:t>Trucul care face hibridul simplu: combini POZIȚIILE din fiecare listă, nu scorurile brute. Scapi de problema „scoruri pe scale diferite” și obții o singură ordonare robustă, aproape fără reglaje.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24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25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18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PIPELINE · RERANKING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Recuperezi larg, apoi rafinezi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Căutarea rapidă are recall mare dar precizie mică. Un reranker reia top-ul și îl reordonează citind întrebarea și documentul împreună.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4"/>
          <p:cNvSpPr/>
          <p:nvPr/>
        </p:nvSpPr>
        <p:spPr>
          <a:xfrm>
            <a:off x="777240" y="2377440"/>
            <a:ext cx="4937040" cy="547920"/>
          </a:xfrm>
          <a:prstGeom prst="rect">
            <a:avLst/>
          </a:prstGeom>
          <a:solidFill>
            <a:srgbClr val="EAE3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5"/>
          <p:cNvSpPr/>
          <p:nvPr/>
        </p:nvSpPr>
        <p:spPr>
          <a:xfrm>
            <a:off x="777240" y="2377440"/>
            <a:ext cx="49370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17181C"/>
                </a:solidFill>
                <a:latin typeface="Inter"/>
                <a:ea typeface="Inter"/>
              </a:rPr>
              <a:t>~100 candidați  ·  căutare ANN ieftină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6"/>
          <p:cNvSpPr/>
          <p:nvPr/>
        </p:nvSpPr>
        <p:spPr>
          <a:xfrm>
            <a:off x="777240" y="303588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A9692A"/>
                </a:solidFill>
                <a:latin typeface="IBM Plex Mono"/>
                <a:ea typeface="IBM Plex Mono"/>
              </a:rPr>
              <a:t>↓  reranking, cross-encoder, doar pe top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7"/>
          <p:cNvSpPr/>
          <p:nvPr/>
        </p:nvSpPr>
        <p:spPr>
          <a:xfrm>
            <a:off x="1325880" y="3566160"/>
            <a:ext cx="3839760" cy="456480"/>
          </a:xfrm>
          <a:prstGeom prst="roundRect">
            <a:avLst>
              <a:gd name="adj" fmla="val 8000"/>
            </a:avLst>
          </a:prstGeom>
          <a:solidFill>
            <a:srgbClr val="1718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8"/>
          <p:cNvSpPr/>
          <p:nvPr/>
        </p:nvSpPr>
        <p:spPr>
          <a:xfrm>
            <a:off x="1554480" y="356616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Inter"/>
                <a:ea typeface="Inter"/>
              </a:rPr>
              <a:t>Chunk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9"/>
          <p:cNvSpPr/>
          <p:nvPr/>
        </p:nvSpPr>
        <p:spPr>
          <a:xfrm>
            <a:off x="3886200" y="3566160"/>
            <a:ext cx="10965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C8843C"/>
                </a:solidFill>
                <a:latin typeface="IBM Plex Mono"/>
                <a:ea typeface="IBM Plex Mono"/>
              </a:rPr>
              <a:t>0.94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0"/>
          <p:cNvSpPr/>
          <p:nvPr/>
        </p:nvSpPr>
        <p:spPr>
          <a:xfrm>
            <a:off x="1325880" y="4133160"/>
            <a:ext cx="3839760" cy="456480"/>
          </a:xfrm>
          <a:prstGeom prst="roundRect">
            <a:avLst>
              <a:gd name="adj" fmla="val 8000"/>
            </a:avLst>
          </a:prstGeom>
          <a:solidFill>
            <a:srgbClr val="1718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11"/>
          <p:cNvSpPr/>
          <p:nvPr/>
        </p:nvSpPr>
        <p:spPr>
          <a:xfrm>
            <a:off x="1554480" y="413316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Inter"/>
                <a:ea typeface="Inter"/>
              </a:rPr>
              <a:t>Chunk B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12"/>
          <p:cNvSpPr/>
          <p:nvPr/>
        </p:nvSpPr>
        <p:spPr>
          <a:xfrm>
            <a:off x="3886200" y="4133160"/>
            <a:ext cx="10965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C8843C"/>
                </a:solidFill>
                <a:latin typeface="IBM Plex Mono"/>
                <a:ea typeface="IBM Plex Mono"/>
              </a:rPr>
              <a:t>0.88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3"/>
          <p:cNvSpPr/>
          <p:nvPr/>
        </p:nvSpPr>
        <p:spPr>
          <a:xfrm>
            <a:off x="1325880" y="4700160"/>
            <a:ext cx="3839760" cy="456480"/>
          </a:xfrm>
          <a:prstGeom prst="roundRect">
            <a:avLst>
              <a:gd name="adj" fmla="val 8000"/>
            </a:avLst>
          </a:prstGeom>
          <a:solidFill>
            <a:srgbClr val="1718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14"/>
          <p:cNvSpPr/>
          <p:nvPr/>
        </p:nvSpPr>
        <p:spPr>
          <a:xfrm>
            <a:off x="1554480" y="470016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Inter"/>
                <a:ea typeface="Inter"/>
              </a:rPr>
              <a:t>Chunk 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15"/>
          <p:cNvSpPr/>
          <p:nvPr/>
        </p:nvSpPr>
        <p:spPr>
          <a:xfrm>
            <a:off x="3886200" y="4700160"/>
            <a:ext cx="10965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C8843C"/>
                </a:solidFill>
                <a:latin typeface="IBM Plex Mono"/>
                <a:ea typeface="IBM Plex Mono"/>
              </a:rPr>
              <a:t>0.81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16"/>
          <p:cNvSpPr/>
          <p:nvPr/>
        </p:nvSpPr>
        <p:spPr>
          <a:xfrm>
            <a:off x="1325880" y="532188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18"/>
          <p:cNvSpPr/>
          <p:nvPr/>
        </p:nvSpPr>
        <p:spPr>
          <a:xfrm>
            <a:off x="6629400" y="2541960"/>
            <a:ext cx="4461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19"/>
          <p:cNvSpPr/>
          <p:nvPr/>
        </p:nvSpPr>
        <p:spPr>
          <a:xfrm>
            <a:off x="6629400" y="2907720"/>
            <a:ext cx="446148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20"/>
          <p:cNvSpPr/>
          <p:nvPr/>
        </p:nvSpPr>
        <p:spPr>
          <a:xfrm>
            <a:off x="6309360" y="3931920"/>
            <a:ext cx="5101560" cy="1416600"/>
          </a:xfrm>
          <a:prstGeom prst="roundRect">
            <a:avLst>
              <a:gd name="adj" fmla="val 3871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21"/>
          <p:cNvSpPr/>
          <p:nvPr/>
        </p:nvSpPr>
        <p:spPr>
          <a:xfrm>
            <a:off x="6629400" y="4096440"/>
            <a:ext cx="4461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A9692A"/>
                </a:solidFill>
                <a:latin typeface="Inter"/>
                <a:ea typeface="Inter"/>
              </a:rPr>
              <a:t>Cross-encoder  ·  reranking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22"/>
          <p:cNvSpPr/>
          <p:nvPr/>
        </p:nvSpPr>
        <p:spPr>
          <a:xfrm>
            <a:off x="6629400" y="4462200"/>
            <a:ext cx="446148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5C6B7A"/>
                </a:solidFill>
                <a:latin typeface="Inter"/>
                <a:ea typeface="Inter"/>
              </a:rPr>
              <a:t>Citește întrebarea si documentul impreuna. Mult mai precis, dar lent, de aceea îl pui doar pe un numar marginal de cazuri.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23"/>
          <p:cNvSpPr/>
          <p:nvPr/>
        </p:nvSpPr>
        <p:spPr>
          <a:xfrm>
            <a:off x="6309360" y="5440680"/>
            <a:ext cx="51015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24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25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19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PIPELINE · GENERARE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Asamblarea promptului, și o capcană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Construiești un prompt care injectează contextul și cere modelului să răspundă DOAR din el. Dar atenția are un defect cunoscut: pierde mijlocul.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4"/>
          <p:cNvSpPr/>
          <p:nvPr/>
        </p:nvSpPr>
        <p:spPr>
          <a:xfrm>
            <a:off x="777240" y="2423160"/>
            <a:ext cx="5211360" cy="2651040"/>
          </a:xfrm>
          <a:prstGeom prst="roundRect">
            <a:avLst>
              <a:gd name="adj" fmla="val 2069"/>
            </a:avLst>
          </a:prstGeom>
          <a:solidFill>
            <a:srgbClr val="17181C"/>
          </a:solidFill>
          <a:ln w="12700">
            <a:solidFill>
              <a:srgbClr val="1718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5"/>
          <p:cNvSpPr/>
          <p:nvPr/>
        </p:nvSpPr>
        <p:spPr>
          <a:xfrm>
            <a:off x="777240" y="2606040"/>
            <a:ext cx="52113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145">
                <a:solidFill>
                  <a:srgbClr val="C8843C"/>
                </a:solidFill>
                <a:latin typeface="IBM Plex Mono"/>
                <a:ea typeface="IBM Plex Mono"/>
              </a:rPr>
              <a:t>ACURATEȚE vs. POZIȚIA INFORMAȚIEI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6"/>
          <p:cNvSpPr/>
          <p:nvPr/>
        </p:nvSpPr>
        <p:spPr>
          <a:xfrm>
            <a:off x="1325880" y="3267720"/>
            <a:ext cx="600840" cy="255240"/>
          </a:xfrm>
          <a:prstGeom prst="line">
            <a:avLst/>
          </a:prstGeom>
          <a:ln w="254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7"/>
          <p:cNvSpPr/>
          <p:nvPr/>
        </p:nvSpPr>
        <p:spPr>
          <a:xfrm>
            <a:off x="1926720" y="3522960"/>
            <a:ext cx="600840" cy="269280"/>
          </a:xfrm>
          <a:prstGeom prst="line">
            <a:avLst/>
          </a:prstGeom>
          <a:ln w="254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8"/>
          <p:cNvSpPr/>
          <p:nvPr/>
        </p:nvSpPr>
        <p:spPr>
          <a:xfrm>
            <a:off x="2527560" y="3792240"/>
            <a:ext cx="600840" cy="184320"/>
          </a:xfrm>
          <a:prstGeom prst="line">
            <a:avLst/>
          </a:prstGeom>
          <a:ln w="254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9"/>
          <p:cNvSpPr/>
          <p:nvPr/>
        </p:nvSpPr>
        <p:spPr>
          <a:xfrm>
            <a:off x="3128400" y="3976560"/>
            <a:ext cx="600840" cy="28440"/>
          </a:xfrm>
          <a:prstGeom prst="line">
            <a:avLst/>
          </a:prstGeom>
          <a:ln w="254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0"/>
          <p:cNvSpPr/>
          <p:nvPr/>
        </p:nvSpPr>
        <p:spPr>
          <a:xfrm flipV="1">
            <a:off x="3729240" y="3905640"/>
            <a:ext cx="600840" cy="99360"/>
          </a:xfrm>
          <a:prstGeom prst="line">
            <a:avLst/>
          </a:prstGeom>
          <a:ln w="254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1"/>
          <p:cNvSpPr/>
          <p:nvPr/>
        </p:nvSpPr>
        <p:spPr>
          <a:xfrm flipV="1">
            <a:off x="4330080" y="3636360"/>
            <a:ext cx="600840" cy="269280"/>
          </a:xfrm>
          <a:prstGeom prst="line">
            <a:avLst/>
          </a:prstGeom>
          <a:ln w="254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12"/>
          <p:cNvSpPr/>
          <p:nvPr/>
        </p:nvSpPr>
        <p:spPr>
          <a:xfrm flipV="1">
            <a:off x="4930920" y="3367080"/>
            <a:ext cx="601200" cy="269280"/>
          </a:xfrm>
          <a:prstGeom prst="line">
            <a:avLst/>
          </a:prstGeom>
          <a:ln w="2540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13"/>
          <p:cNvSpPr/>
          <p:nvPr/>
        </p:nvSpPr>
        <p:spPr>
          <a:xfrm>
            <a:off x="1280160" y="3222360"/>
            <a:ext cx="90720" cy="90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14"/>
          <p:cNvSpPr/>
          <p:nvPr/>
        </p:nvSpPr>
        <p:spPr>
          <a:xfrm>
            <a:off x="1881000" y="3477600"/>
            <a:ext cx="90720" cy="90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5"/>
          <p:cNvSpPr/>
          <p:nvPr/>
        </p:nvSpPr>
        <p:spPr>
          <a:xfrm>
            <a:off x="2481840" y="3746880"/>
            <a:ext cx="90720" cy="90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6"/>
          <p:cNvSpPr/>
          <p:nvPr/>
        </p:nvSpPr>
        <p:spPr>
          <a:xfrm>
            <a:off x="3082680" y="3930840"/>
            <a:ext cx="90720" cy="90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17"/>
          <p:cNvSpPr/>
          <p:nvPr/>
        </p:nvSpPr>
        <p:spPr>
          <a:xfrm>
            <a:off x="3683880" y="3959280"/>
            <a:ext cx="90720" cy="90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18"/>
          <p:cNvSpPr/>
          <p:nvPr/>
        </p:nvSpPr>
        <p:spPr>
          <a:xfrm>
            <a:off x="4284720" y="3860280"/>
            <a:ext cx="90720" cy="90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9"/>
          <p:cNvSpPr/>
          <p:nvPr/>
        </p:nvSpPr>
        <p:spPr>
          <a:xfrm>
            <a:off x="4885560" y="3591000"/>
            <a:ext cx="90720" cy="90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20"/>
          <p:cNvSpPr/>
          <p:nvPr/>
        </p:nvSpPr>
        <p:spPr>
          <a:xfrm>
            <a:off x="5486400" y="3321720"/>
            <a:ext cx="90720" cy="90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21"/>
          <p:cNvSpPr/>
          <p:nvPr/>
        </p:nvSpPr>
        <p:spPr>
          <a:xfrm>
            <a:off x="1051560" y="4626720"/>
            <a:ext cx="137088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22"/>
          <p:cNvSpPr/>
          <p:nvPr/>
        </p:nvSpPr>
        <p:spPr>
          <a:xfrm>
            <a:off x="2880360" y="462672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23"/>
          <p:cNvSpPr/>
          <p:nvPr/>
        </p:nvSpPr>
        <p:spPr>
          <a:xfrm>
            <a:off x="4709160" y="462672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24"/>
          <p:cNvSpPr/>
          <p:nvPr/>
        </p:nvSpPr>
        <p:spPr>
          <a:xfrm>
            <a:off x="1143000" y="4507920"/>
            <a:ext cx="447984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i="1" strike="noStrike" spc="-1">
                <a:solidFill>
                  <a:srgbClr val="C9C2B2"/>
                </a:solidFill>
                <a:latin typeface="Inter"/>
                <a:ea typeface="Inter"/>
              </a:rPr>
              <a:t>„Lost in the middle”: modelul folosește bine capetele, ignoră ce e îngropat la mijloc.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25"/>
          <p:cNvSpPr/>
          <p:nvPr/>
        </p:nvSpPr>
        <p:spPr>
          <a:xfrm>
            <a:off x="777240" y="5212080"/>
            <a:ext cx="521136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7181C"/>
                </a:solidFill>
                <a:latin typeface="Inter"/>
                <a:ea typeface="Inter"/>
              </a:rPr>
              <a:t>Pune cele mai bune chunk-uri primul și ultimul, nu îngropate la mijloc.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26"/>
          <p:cNvSpPr/>
          <p:nvPr/>
        </p:nvSpPr>
        <p:spPr>
          <a:xfrm>
            <a:off x="6309360" y="2423160"/>
            <a:ext cx="5101560" cy="3428280"/>
          </a:xfrm>
          <a:prstGeom prst="roundRect">
            <a:avLst>
              <a:gd name="adj" fmla="val 1600"/>
            </a:avLst>
          </a:prstGeom>
          <a:solidFill>
            <a:srgbClr val="17181C"/>
          </a:solidFill>
          <a:ln w="12700">
            <a:solidFill>
              <a:srgbClr val="1718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27"/>
          <p:cNvSpPr/>
          <p:nvPr/>
        </p:nvSpPr>
        <p:spPr>
          <a:xfrm>
            <a:off x="6629400" y="2606040"/>
            <a:ext cx="4461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197">
                <a:solidFill>
                  <a:srgbClr val="C8843C"/>
                </a:solidFill>
                <a:latin typeface="IBM Plex Mono"/>
                <a:ea typeface="IBM Plex Mono"/>
              </a:rPr>
              <a:t>ȘABLON DE PROMPT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28"/>
          <p:cNvSpPr/>
          <p:nvPr/>
        </p:nvSpPr>
        <p:spPr>
          <a:xfrm>
            <a:off x="6629400" y="2971800"/>
            <a:ext cx="4461480" cy="182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E5DFD0"/>
                </a:solidFill>
                <a:latin typeface="IBM Plex Mono"/>
                <a:ea typeface="IBM Plex Mono"/>
              </a:rPr>
              <a:t>Răspunde STRICT pe baza contextului.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E5DFD0"/>
                </a:solidFill>
                <a:latin typeface="IBM Plex Mono"/>
                <a:ea typeface="IBM Plex Mono"/>
              </a:rPr>
              <a:t>Dacă nu e acolo, spune că nu știi.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E5DFD0"/>
                </a:solidFill>
                <a:latin typeface="IBM Plex Mono"/>
                <a:ea typeface="IBM Plex Mono"/>
              </a:rPr>
              <a:t>Citează sursa.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C8843C"/>
                </a:solidFill>
                <a:latin typeface="IBM Plex Mono"/>
                <a:ea typeface="IBM Plex Mono"/>
              </a:rPr>
              <a:t>CONTEXT: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9FB8CF"/>
                </a:solidFill>
                <a:latin typeface="IBM Plex Mono"/>
                <a:ea typeface="IBM Plex Mono"/>
              </a:rPr>
              <a:t>{fragmente_recuperate}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>
                <a:solidFill>
                  <a:srgbClr val="C8843C"/>
                </a:solidFill>
                <a:latin typeface="IBM Plex Mono"/>
                <a:ea typeface="IBM Plex Mono"/>
              </a:rPr>
              <a:t>ÎNTREBARE: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9FB8CF"/>
                </a:solidFill>
                <a:latin typeface="IBM Plex Mono"/>
                <a:ea typeface="IBM Plex Mono"/>
              </a:rPr>
              <a:t>{întrebarea_userului}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29"/>
          <p:cNvSpPr/>
          <p:nvPr/>
        </p:nvSpPr>
        <p:spPr>
          <a:xfrm>
            <a:off x="6629400" y="5166360"/>
            <a:ext cx="446148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i="1" strike="noStrike" spc="-1">
                <a:solidFill>
                  <a:srgbClr val="B7AF9C"/>
                </a:solidFill>
                <a:latin typeface="Inter"/>
                <a:ea typeface="Inter"/>
              </a:rPr>
              <a:t>Trei instrucțiuni fac 90% din diferență: „doar din context”, „spune dacă nu știi”, „citează”.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30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31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20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0"/>
          <p:cNvSpPr/>
          <p:nvPr/>
        </p:nvSpPr>
        <p:spPr>
          <a:xfrm>
            <a:off x="0" y="0"/>
            <a:ext cx="12188160" cy="5400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1"/>
          <p:cNvSpPr/>
          <p:nvPr/>
        </p:nvSpPr>
        <p:spPr>
          <a:xfrm>
            <a:off x="7982640" y="1097280"/>
            <a:ext cx="3839760" cy="41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0" b="0" strike="noStrike" spc="-1">
                <a:solidFill>
                  <a:srgbClr val="21242B"/>
                </a:solidFill>
                <a:latin typeface="DM Serif Display"/>
                <a:ea typeface="DM Serif Display"/>
              </a:rPr>
              <a:t>III</a:t>
            </a:r>
            <a:endParaRPr lang="en-US" sz="30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2"/>
          <p:cNvSpPr/>
          <p:nvPr/>
        </p:nvSpPr>
        <p:spPr>
          <a:xfrm>
            <a:off x="777240" y="246888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395">
                <a:solidFill>
                  <a:srgbClr val="C8843C"/>
                </a:solidFill>
                <a:latin typeface="IBM Plex Mono"/>
                <a:ea typeface="IBM Plex Mono"/>
              </a:rPr>
              <a:t>PARTEA III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731520" y="2834640"/>
            <a:ext cx="786312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52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Dincolo de bază</a:t>
            </a:r>
            <a:endParaRPr lang="en-US" sz="5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4"/>
          <p:cNvSpPr/>
          <p:nvPr/>
        </p:nvSpPr>
        <p:spPr>
          <a:xfrm>
            <a:off x="777240" y="4343400"/>
            <a:ext cx="667440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B7AF9C"/>
                </a:solidFill>
                <a:latin typeface="Inter"/>
                <a:ea typeface="Inter"/>
              </a:rPr>
              <a:t>Pipeline-ul de bază funcționează. Dar ca să înțelegi cu adevărat RAG, e bine să vezi tehnicile care îl fac bun, cum măsori dacă merge și ce înveți din greșeli.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Shape 5"/>
          <p:cNvSpPr/>
          <p:nvPr/>
        </p:nvSpPr>
        <p:spPr>
          <a:xfrm>
            <a:off x="777240" y="2286000"/>
            <a:ext cx="1828080" cy="1944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6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B7AF9C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7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FFFFFF"/>
                </a:solidFill>
                <a:latin typeface="IBM Plex Mono"/>
                <a:ea typeface="IBM Plex Mono"/>
              </a:rPr>
              <a:t>21</a:t>
            </a:r>
            <a:r>
              <a:rPr lang="en-US" sz="850" b="0" strike="noStrike" spc="94">
                <a:solidFill>
                  <a:srgbClr val="B7AF9C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TEHNICI · RECUPERARE AVANSATĂ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Cum ajuți recuperarea la întrebări grele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RAG simplu se împiedică la întrebări ambigue, complexe sau prost formulate. Aceste tehnici lucrează pe întrebare ÎNAINTE de căutare, sau pe chunk înainte de embedding.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4"/>
          <p:cNvSpPr/>
          <p:nvPr/>
        </p:nvSpPr>
        <p:spPr>
          <a:xfrm>
            <a:off x="777240" y="237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5"/>
          <p:cNvSpPr/>
          <p:nvPr/>
        </p:nvSpPr>
        <p:spPr>
          <a:xfrm>
            <a:off x="777240" y="2377440"/>
            <a:ext cx="40320" cy="148068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6"/>
          <p:cNvSpPr/>
          <p:nvPr/>
        </p:nvSpPr>
        <p:spPr>
          <a:xfrm>
            <a:off x="1051560" y="2578680"/>
            <a:ext cx="28584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Query rewriting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7"/>
          <p:cNvSpPr/>
          <p:nvPr/>
        </p:nvSpPr>
        <p:spPr>
          <a:xfrm>
            <a:off x="1051560" y="303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Reformulează și clarifică întrebarea: rezolvă pronume, ambiguități, context din dialog.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8"/>
          <p:cNvSpPr/>
          <p:nvPr/>
        </p:nvSpPr>
        <p:spPr>
          <a:xfrm>
            <a:off x="4413600" y="237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9"/>
          <p:cNvSpPr/>
          <p:nvPr/>
        </p:nvSpPr>
        <p:spPr>
          <a:xfrm>
            <a:off x="4413600" y="2377440"/>
            <a:ext cx="40320" cy="148068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10"/>
          <p:cNvSpPr/>
          <p:nvPr/>
        </p:nvSpPr>
        <p:spPr>
          <a:xfrm>
            <a:off x="4687920" y="2578680"/>
            <a:ext cx="28584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Multi-query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 11"/>
          <p:cNvSpPr/>
          <p:nvPr/>
        </p:nvSpPr>
        <p:spPr>
          <a:xfrm>
            <a:off x="4687920" y="303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Generează mai multe variante ale întrebării, reunește rezultatele. Acoperire mai mare.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2"/>
          <p:cNvSpPr/>
          <p:nvPr/>
        </p:nvSpPr>
        <p:spPr>
          <a:xfrm>
            <a:off x="8049600" y="237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13"/>
          <p:cNvSpPr/>
          <p:nvPr/>
        </p:nvSpPr>
        <p:spPr>
          <a:xfrm>
            <a:off x="8049600" y="2377440"/>
            <a:ext cx="40320" cy="148068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14"/>
          <p:cNvSpPr/>
          <p:nvPr/>
        </p:nvSpPr>
        <p:spPr>
          <a:xfrm>
            <a:off x="8323920" y="2578680"/>
            <a:ext cx="28584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HyDE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15"/>
          <p:cNvSpPr/>
          <p:nvPr/>
        </p:nvSpPr>
        <p:spPr>
          <a:xfrm>
            <a:off x="8323920" y="303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Generează un răspuns ipotetic, apoi caută documente similare cu el, nu cu întrebarea.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6"/>
          <p:cNvSpPr/>
          <p:nvPr/>
        </p:nvSpPr>
        <p:spPr>
          <a:xfrm>
            <a:off x="777240" y="408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7"/>
          <p:cNvSpPr/>
          <p:nvPr/>
        </p:nvSpPr>
        <p:spPr>
          <a:xfrm>
            <a:off x="777240" y="4087440"/>
            <a:ext cx="40320" cy="148068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18"/>
          <p:cNvSpPr/>
          <p:nvPr/>
        </p:nvSpPr>
        <p:spPr>
          <a:xfrm>
            <a:off x="1051560" y="4288680"/>
            <a:ext cx="28584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Decompoziție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19"/>
          <p:cNvSpPr/>
          <p:nvPr/>
        </p:nvSpPr>
        <p:spPr>
          <a:xfrm>
            <a:off x="1051560" y="474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Sparge o întrebare complexă în sub-întrebări mai ușor de recuperat separat.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20"/>
          <p:cNvSpPr/>
          <p:nvPr/>
        </p:nvSpPr>
        <p:spPr>
          <a:xfrm>
            <a:off x="4413600" y="408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21"/>
          <p:cNvSpPr/>
          <p:nvPr/>
        </p:nvSpPr>
        <p:spPr>
          <a:xfrm>
            <a:off x="4413600" y="4087440"/>
            <a:ext cx="40320" cy="148068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22"/>
          <p:cNvSpPr/>
          <p:nvPr/>
        </p:nvSpPr>
        <p:spPr>
          <a:xfrm>
            <a:off x="4687920" y="4288680"/>
            <a:ext cx="28584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Query routing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23"/>
          <p:cNvSpPr/>
          <p:nvPr/>
        </p:nvSpPr>
        <p:spPr>
          <a:xfrm>
            <a:off x="4687920" y="474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Trimite întrebarea către sursa potrivită dintre mai multe disponibile.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24"/>
          <p:cNvSpPr/>
          <p:nvPr/>
        </p:nvSpPr>
        <p:spPr>
          <a:xfrm>
            <a:off x="8049600" y="408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25"/>
          <p:cNvSpPr/>
          <p:nvPr/>
        </p:nvSpPr>
        <p:spPr>
          <a:xfrm>
            <a:off x="8049600" y="4087440"/>
            <a:ext cx="40320" cy="148068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26"/>
          <p:cNvSpPr/>
          <p:nvPr/>
        </p:nvSpPr>
        <p:spPr>
          <a:xfrm>
            <a:off x="8323920" y="4288680"/>
            <a:ext cx="28584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Contextual retrieval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27"/>
          <p:cNvSpPr/>
          <p:nvPr/>
        </p:nvSpPr>
        <p:spPr>
          <a:xfrm>
            <a:off x="8323920" y="474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Adaugi fiecărui chunk un rezumat al documentului-părinte Înainte de embedding.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28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29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22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TEHNICI · GRAPHRAG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Când similaritatea nu ajunge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Căutarea de similaritate răspunde bine la întrebări locale („ce spune documentul X?”). Cade la întrebări globale care cer sinteza a zeci de surse.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 4"/>
          <p:cNvSpPr/>
          <p:nvPr/>
        </p:nvSpPr>
        <p:spPr>
          <a:xfrm>
            <a:off x="777240" y="237744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94">
                <a:solidFill>
                  <a:srgbClr val="3E6B5A"/>
                </a:solidFill>
                <a:latin typeface="IBM Plex Mono"/>
                <a:ea typeface="IBM Plex Mono"/>
              </a:rPr>
              <a:t>Întrebare LOCALĂ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5"/>
          <p:cNvSpPr/>
          <p:nvPr/>
        </p:nvSpPr>
        <p:spPr>
          <a:xfrm>
            <a:off x="777240" y="2697480"/>
            <a:ext cx="51199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„Care e politica de retur?” → un chunk, similaritate clasică, rezolvat.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6"/>
          <p:cNvSpPr/>
          <p:nvPr/>
        </p:nvSpPr>
        <p:spPr>
          <a:xfrm>
            <a:off x="777240" y="352044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94">
                <a:solidFill>
                  <a:srgbClr val="B0462E"/>
                </a:solidFill>
                <a:latin typeface="IBM Plex Mono"/>
                <a:ea typeface="IBM Plex Mono"/>
              </a:rPr>
              <a:t>Întrebare GLOBALĂ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7"/>
          <p:cNvSpPr/>
          <p:nvPr/>
        </p:nvSpPr>
        <p:spPr>
          <a:xfrm>
            <a:off x="777240" y="3840480"/>
            <a:ext cx="511992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C6B7A"/>
                </a:solidFill>
                <a:latin typeface="Inter"/>
                <a:ea typeface="Inter"/>
              </a:rPr>
              <a:t>„Care sunt temele recurente în toate reclamațiile din 2024?” → niciun chunk nu conține răspunsul; el trebuie construit din multe.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8"/>
          <p:cNvSpPr/>
          <p:nvPr/>
        </p:nvSpPr>
        <p:spPr>
          <a:xfrm>
            <a:off x="6400800" y="2377440"/>
            <a:ext cx="5010120" cy="3474000"/>
          </a:xfrm>
          <a:prstGeom prst="roundRect">
            <a:avLst>
              <a:gd name="adj" fmla="val 1579"/>
            </a:avLst>
          </a:prstGeom>
          <a:solidFill>
            <a:srgbClr val="17181C"/>
          </a:solidFill>
          <a:ln w="12700">
            <a:solidFill>
              <a:srgbClr val="1718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9"/>
          <p:cNvSpPr/>
          <p:nvPr/>
        </p:nvSpPr>
        <p:spPr>
          <a:xfrm>
            <a:off x="6400800" y="2578680"/>
            <a:ext cx="5010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197">
                <a:solidFill>
                  <a:srgbClr val="C8843C"/>
                </a:solidFill>
                <a:latin typeface="IBM Plex Mono"/>
                <a:ea typeface="IBM Plex Mono"/>
              </a:rPr>
              <a:t>GRAPHRAG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0"/>
          <p:cNvSpPr/>
          <p:nvPr/>
        </p:nvSpPr>
        <p:spPr>
          <a:xfrm flipV="1">
            <a:off x="7909560" y="3459960"/>
            <a:ext cx="1042200" cy="22680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11"/>
          <p:cNvSpPr/>
          <p:nvPr/>
        </p:nvSpPr>
        <p:spPr>
          <a:xfrm>
            <a:off x="8951760" y="3459960"/>
            <a:ext cx="868680" cy="34020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12"/>
          <p:cNvSpPr/>
          <p:nvPr/>
        </p:nvSpPr>
        <p:spPr>
          <a:xfrm>
            <a:off x="7909560" y="3686760"/>
            <a:ext cx="520920" cy="51012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3"/>
          <p:cNvSpPr/>
          <p:nvPr/>
        </p:nvSpPr>
        <p:spPr>
          <a:xfrm>
            <a:off x="8430480" y="4196880"/>
            <a:ext cx="1129320" cy="11340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14"/>
          <p:cNvSpPr/>
          <p:nvPr/>
        </p:nvSpPr>
        <p:spPr>
          <a:xfrm>
            <a:off x="8951760" y="3459960"/>
            <a:ext cx="608040" cy="85032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15"/>
          <p:cNvSpPr/>
          <p:nvPr/>
        </p:nvSpPr>
        <p:spPr>
          <a:xfrm>
            <a:off x="9820440" y="3800160"/>
            <a:ext cx="695160" cy="39672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16"/>
          <p:cNvSpPr/>
          <p:nvPr/>
        </p:nvSpPr>
        <p:spPr>
          <a:xfrm flipV="1">
            <a:off x="9559800" y="4196880"/>
            <a:ext cx="955800" cy="11340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17"/>
          <p:cNvSpPr/>
          <p:nvPr/>
        </p:nvSpPr>
        <p:spPr>
          <a:xfrm>
            <a:off x="8430480" y="4196880"/>
            <a:ext cx="347760" cy="51012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18"/>
          <p:cNvSpPr/>
          <p:nvPr/>
        </p:nvSpPr>
        <p:spPr>
          <a:xfrm flipH="1">
            <a:off x="8778240" y="4310280"/>
            <a:ext cx="781560" cy="396720"/>
          </a:xfrm>
          <a:prstGeom prst="line">
            <a:avLst/>
          </a:prstGeom>
          <a:ln w="12700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19"/>
          <p:cNvSpPr/>
          <p:nvPr/>
        </p:nvSpPr>
        <p:spPr>
          <a:xfrm>
            <a:off x="7809120" y="3586320"/>
            <a:ext cx="200520" cy="20052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20"/>
          <p:cNvSpPr/>
          <p:nvPr/>
        </p:nvSpPr>
        <p:spPr>
          <a:xfrm>
            <a:off x="8851320" y="3359520"/>
            <a:ext cx="200520" cy="200520"/>
          </a:xfrm>
          <a:prstGeom prst="ellipse">
            <a:avLst/>
          </a:prstGeom>
          <a:solidFill>
            <a:srgbClr val="6FA3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21"/>
          <p:cNvSpPr/>
          <p:nvPr/>
        </p:nvSpPr>
        <p:spPr>
          <a:xfrm>
            <a:off x="9720000" y="3699720"/>
            <a:ext cx="200520" cy="200520"/>
          </a:xfrm>
          <a:prstGeom prst="ellipse">
            <a:avLst/>
          </a:prstGeom>
          <a:solidFill>
            <a:srgbClr val="6FA3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22"/>
          <p:cNvSpPr/>
          <p:nvPr/>
        </p:nvSpPr>
        <p:spPr>
          <a:xfrm>
            <a:off x="8330040" y="4096440"/>
            <a:ext cx="200520" cy="20052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Shape 23"/>
          <p:cNvSpPr/>
          <p:nvPr/>
        </p:nvSpPr>
        <p:spPr>
          <a:xfrm>
            <a:off x="9459360" y="4209840"/>
            <a:ext cx="200520" cy="200520"/>
          </a:xfrm>
          <a:prstGeom prst="ellipse">
            <a:avLst/>
          </a:prstGeom>
          <a:solidFill>
            <a:srgbClr val="6FA3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Shape 24"/>
          <p:cNvSpPr/>
          <p:nvPr/>
        </p:nvSpPr>
        <p:spPr>
          <a:xfrm>
            <a:off x="10415160" y="4096440"/>
            <a:ext cx="200520" cy="200520"/>
          </a:xfrm>
          <a:prstGeom prst="ellipse">
            <a:avLst/>
          </a:prstGeom>
          <a:solidFill>
            <a:srgbClr val="6FA3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Shape 25"/>
          <p:cNvSpPr/>
          <p:nvPr/>
        </p:nvSpPr>
        <p:spPr>
          <a:xfrm>
            <a:off x="8677800" y="4606920"/>
            <a:ext cx="200520" cy="200520"/>
          </a:xfrm>
          <a:prstGeom prst="ellipse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26"/>
          <p:cNvSpPr/>
          <p:nvPr/>
        </p:nvSpPr>
        <p:spPr>
          <a:xfrm>
            <a:off x="6766560" y="4709160"/>
            <a:ext cx="427860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C9C2B2"/>
                </a:solidFill>
                <a:latin typeface="Inter"/>
                <a:ea typeface="Inter"/>
              </a:rPr>
              <a:t>Construiește un graf de entități și relații din corpus. Răspunde la întrebări globale parcurgând graful și sintetizând comunități de noduri, acolo unde top-k similaritate n-ar aduce niciodată tabloul complet.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27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28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23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EVALUARE · CUM ȘTIM CĂ MERGE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Cum măsori un sistem RAG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Secretul evaluării RAG: separă cele două etape. Întrebi pe rând „am adus contextul corect?” și „l-am folosit corect?”. Sunt probleme diferite.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4"/>
          <p:cNvSpPr/>
          <p:nvPr/>
        </p:nvSpPr>
        <p:spPr>
          <a:xfrm>
            <a:off x="777240" y="2331720"/>
            <a:ext cx="5119920" cy="1508040"/>
          </a:xfrm>
          <a:prstGeom prst="roundRect">
            <a:avLst>
              <a:gd name="adj" fmla="val 3636"/>
            </a:avLst>
          </a:prstGeom>
          <a:solidFill>
            <a:srgbClr val="FBFAF4"/>
          </a:solidFill>
          <a:ln w="19050">
            <a:solidFill>
              <a:srgbClr val="1F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5"/>
          <p:cNvSpPr/>
          <p:nvPr/>
        </p:nvSpPr>
        <p:spPr>
          <a:xfrm>
            <a:off x="1097280" y="248724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1F3A5F"/>
                </a:solidFill>
                <a:latin typeface="DM Serif Display"/>
                <a:ea typeface="DM Serif Display"/>
              </a:rPr>
              <a:t>1 · Recuperarea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6"/>
          <p:cNvSpPr/>
          <p:nvPr/>
        </p:nvSpPr>
        <p:spPr>
          <a:xfrm>
            <a:off x="1097280" y="2907720"/>
            <a:ext cx="457128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Am adus documentele corecte?  Context Precision, Context Recall, Hit Rate, MRR.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7"/>
          <p:cNvSpPr/>
          <p:nvPr/>
        </p:nvSpPr>
        <p:spPr>
          <a:xfrm>
            <a:off x="777240" y="4023360"/>
            <a:ext cx="5119920" cy="1508040"/>
          </a:xfrm>
          <a:prstGeom prst="roundRect">
            <a:avLst>
              <a:gd name="adj" fmla="val 3636"/>
            </a:avLst>
          </a:prstGeom>
          <a:solidFill>
            <a:srgbClr val="FBFAF4"/>
          </a:solidFill>
          <a:ln w="19050">
            <a:solidFill>
              <a:srgbClr val="C884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8"/>
          <p:cNvSpPr/>
          <p:nvPr/>
        </p:nvSpPr>
        <p:spPr>
          <a:xfrm>
            <a:off x="1097280" y="417888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A9692A"/>
                </a:solidFill>
                <a:latin typeface="DM Serif Display"/>
                <a:ea typeface="DM Serif Display"/>
              </a:rPr>
              <a:t>2 · Generarea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9"/>
          <p:cNvSpPr/>
          <p:nvPr/>
        </p:nvSpPr>
        <p:spPr>
          <a:xfrm>
            <a:off x="1097280" y="4599360"/>
            <a:ext cx="457128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A folosit contextul fidel?  Faithfulness (nu inventează) + Answer Relevancy (răspunde la întrebare).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10"/>
          <p:cNvSpPr/>
          <p:nvPr/>
        </p:nvSpPr>
        <p:spPr>
          <a:xfrm>
            <a:off x="6400800" y="2331720"/>
            <a:ext cx="5010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145">
                <a:solidFill>
                  <a:srgbClr val="8A8270"/>
                </a:solidFill>
                <a:latin typeface="IBM Plex Mono"/>
                <a:ea typeface="IBM Plex Mono"/>
              </a:rPr>
              <a:t>EXEMPLU · SCORURI RAGAS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11"/>
          <p:cNvSpPr/>
          <p:nvPr/>
        </p:nvSpPr>
        <p:spPr>
          <a:xfrm>
            <a:off x="7040880" y="5074920"/>
            <a:ext cx="4004280" cy="828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 12"/>
          <p:cNvSpPr/>
          <p:nvPr/>
        </p:nvSpPr>
        <p:spPr>
          <a:xfrm>
            <a:off x="6492240" y="4965120"/>
            <a:ext cx="4564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8270"/>
                </a:solidFill>
                <a:latin typeface="IBM Plex Mono"/>
                <a:ea typeface="IBM Plex Mono"/>
              </a:rPr>
              <a:t>0.00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13"/>
          <p:cNvSpPr/>
          <p:nvPr/>
        </p:nvSpPr>
        <p:spPr>
          <a:xfrm>
            <a:off x="7040880" y="4503600"/>
            <a:ext cx="4004280" cy="828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14"/>
          <p:cNvSpPr/>
          <p:nvPr/>
        </p:nvSpPr>
        <p:spPr>
          <a:xfrm>
            <a:off x="6492240" y="4393800"/>
            <a:ext cx="4564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8270"/>
                </a:solidFill>
                <a:latin typeface="IBM Plex Mono"/>
                <a:ea typeface="IBM Plex Mono"/>
              </a:rPr>
              <a:t>0.25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15"/>
          <p:cNvSpPr/>
          <p:nvPr/>
        </p:nvSpPr>
        <p:spPr>
          <a:xfrm>
            <a:off x="7040880" y="3931920"/>
            <a:ext cx="4004280" cy="828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16"/>
          <p:cNvSpPr/>
          <p:nvPr/>
        </p:nvSpPr>
        <p:spPr>
          <a:xfrm>
            <a:off x="6492240" y="3822120"/>
            <a:ext cx="4564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8270"/>
                </a:solidFill>
                <a:latin typeface="IBM Plex Mono"/>
                <a:ea typeface="IBM Plex Mono"/>
              </a:rPr>
              <a:t>0.50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17"/>
          <p:cNvSpPr/>
          <p:nvPr/>
        </p:nvSpPr>
        <p:spPr>
          <a:xfrm>
            <a:off x="7040880" y="3360600"/>
            <a:ext cx="4004280" cy="828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18"/>
          <p:cNvSpPr/>
          <p:nvPr/>
        </p:nvSpPr>
        <p:spPr>
          <a:xfrm>
            <a:off x="6492240" y="3250800"/>
            <a:ext cx="4564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8270"/>
                </a:solidFill>
                <a:latin typeface="IBM Plex Mono"/>
                <a:ea typeface="IBM Plex Mono"/>
              </a:rPr>
              <a:t>0.75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19"/>
          <p:cNvSpPr/>
          <p:nvPr/>
        </p:nvSpPr>
        <p:spPr>
          <a:xfrm>
            <a:off x="7040880" y="2788920"/>
            <a:ext cx="4004280" cy="828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20"/>
          <p:cNvSpPr/>
          <p:nvPr/>
        </p:nvSpPr>
        <p:spPr>
          <a:xfrm>
            <a:off x="6492240" y="2679120"/>
            <a:ext cx="4564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8270"/>
                </a:solidFill>
                <a:latin typeface="IBM Plex Mono"/>
                <a:ea typeface="IBM Plex Mono"/>
              </a:rPr>
              <a:t>1.00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21"/>
          <p:cNvSpPr/>
          <p:nvPr/>
        </p:nvSpPr>
        <p:spPr>
          <a:xfrm>
            <a:off x="7166520" y="3200400"/>
            <a:ext cx="749160" cy="187380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22"/>
          <p:cNvSpPr/>
          <p:nvPr/>
        </p:nvSpPr>
        <p:spPr>
          <a:xfrm>
            <a:off x="6983640" y="2926080"/>
            <a:ext cx="1114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7181C"/>
                </a:solidFill>
                <a:latin typeface="IBM Plex Mono"/>
                <a:ea typeface="IBM Plex Mono"/>
              </a:rPr>
              <a:t>0.82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23"/>
          <p:cNvSpPr/>
          <p:nvPr/>
        </p:nvSpPr>
        <p:spPr>
          <a:xfrm>
            <a:off x="6937920" y="5148000"/>
            <a:ext cx="12063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A8270"/>
                </a:solidFill>
                <a:latin typeface="Inter"/>
                <a:ea typeface="Inter"/>
              </a:rPr>
              <a:t>Context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A8270"/>
                </a:solidFill>
                <a:latin typeface="Inter"/>
                <a:ea typeface="Inter"/>
              </a:rPr>
              <a:t>Precision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24"/>
          <p:cNvSpPr/>
          <p:nvPr/>
        </p:nvSpPr>
        <p:spPr>
          <a:xfrm>
            <a:off x="8168040" y="3383280"/>
            <a:ext cx="749160" cy="1690920"/>
          </a:xfrm>
          <a:prstGeom prst="rect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25"/>
          <p:cNvSpPr/>
          <p:nvPr/>
        </p:nvSpPr>
        <p:spPr>
          <a:xfrm>
            <a:off x="7985160" y="3108960"/>
            <a:ext cx="1114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7181C"/>
                </a:solidFill>
                <a:latin typeface="IBM Plex Mono"/>
                <a:ea typeface="IBM Plex Mono"/>
              </a:rPr>
              <a:t>0.74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26"/>
          <p:cNvSpPr/>
          <p:nvPr/>
        </p:nvSpPr>
        <p:spPr>
          <a:xfrm>
            <a:off x="7939440" y="5148000"/>
            <a:ext cx="12063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A8270"/>
                </a:solidFill>
                <a:latin typeface="Inter"/>
                <a:ea typeface="Inter"/>
              </a:rPr>
              <a:t>Context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A8270"/>
                </a:solidFill>
                <a:latin typeface="Inter"/>
                <a:ea typeface="Inter"/>
              </a:rPr>
              <a:t>Recall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27"/>
          <p:cNvSpPr/>
          <p:nvPr/>
        </p:nvSpPr>
        <p:spPr>
          <a:xfrm>
            <a:off x="9169200" y="2994840"/>
            <a:ext cx="749160" cy="207972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28"/>
          <p:cNvSpPr/>
          <p:nvPr/>
        </p:nvSpPr>
        <p:spPr>
          <a:xfrm>
            <a:off x="8986320" y="2720520"/>
            <a:ext cx="1114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7181C"/>
                </a:solidFill>
                <a:latin typeface="IBM Plex Mono"/>
                <a:ea typeface="IBM Plex Mono"/>
              </a:rPr>
              <a:t>0.91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 29"/>
          <p:cNvSpPr/>
          <p:nvPr/>
        </p:nvSpPr>
        <p:spPr>
          <a:xfrm>
            <a:off x="8940600" y="5148000"/>
            <a:ext cx="12063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A8270"/>
                </a:solidFill>
                <a:latin typeface="Inter"/>
                <a:ea typeface="Inter"/>
              </a:rPr>
              <a:t>Faithful-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A8270"/>
                </a:solidFill>
                <a:latin typeface="Inter"/>
                <a:ea typeface="Inter"/>
              </a:rPr>
              <a:t>ness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30"/>
          <p:cNvSpPr/>
          <p:nvPr/>
        </p:nvSpPr>
        <p:spPr>
          <a:xfrm>
            <a:off x="10170360" y="3063240"/>
            <a:ext cx="749160" cy="201096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 31"/>
          <p:cNvSpPr/>
          <p:nvPr/>
        </p:nvSpPr>
        <p:spPr>
          <a:xfrm>
            <a:off x="9987480" y="2788920"/>
            <a:ext cx="111492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7181C"/>
                </a:solidFill>
                <a:latin typeface="IBM Plex Mono"/>
                <a:ea typeface="IBM Plex Mono"/>
              </a:rPr>
              <a:t>0.88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32"/>
          <p:cNvSpPr/>
          <p:nvPr/>
        </p:nvSpPr>
        <p:spPr>
          <a:xfrm>
            <a:off x="9941760" y="5148000"/>
            <a:ext cx="12063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A8270"/>
                </a:solidFill>
                <a:latin typeface="Inter"/>
                <a:ea typeface="Inter"/>
              </a:rPr>
              <a:t>Answer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8A8270"/>
                </a:solidFill>
                <a:latin typeface="Inter"/>
                <a:ea typeface="Inter"/>
              </a:rPr>
              <a:t>Relev.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 33"/>
          <p:cNvSpPr/>
          <p:nvPr/>
        </p:nvSpPr>
        <p:spPr>
          <a:xfrm>
            <a:off x="777240" y="5715000"/>
            <a:ext cx="10633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A9692A"/>
                </a:solidFill>
                <a:latin typeface="Inter"/>
                <a:ea typeface="Inter"/>
              </a:rPr>
              <a:t>Disciplina: </a:t>
            </a:r>
            <a:r>
              <a:rPr lang="en-US" sz="1250" b="0" strike="noStrike" spc="-1">
                <a:solidFill>
                  <a:srgbClr val="17181C"/>
                </a:solidFill>
                <a:latin typeface="Inter"/>
                <a:ea typeface="Inter"/>
              </a:rPr>
              <a:t>construiește un set de referință (golden set) ÎNAINTE de a regla orice. Fără el, „pare că merge” nu e o metrică.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34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35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24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CAPCANE · GREȘELI FRECVENTE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Greșelile clasice de început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Aproape orice „RAG-ul nu merge” se reduce la „recuperarea nu merge”. Iată capcanele în care cazi prima dată, în ordinea frecvenței.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4"/>
          <p:cNvSpPr/>
          <p:nvPr/>
        </p:nvSpPr>
        <p:spPr>
          <a:xfrm>
            <a:off x="777240" y="237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5"/>
          <p:cNvSpPr/>
          <p:nvPr/>
        </p:nvSpPr>
        <p:spPr>
          <a:xfrm>
            <a:off x="777240" y="2377440"/>
            <a:ext cx="40320" cy="1480680"/>
          </a:xfrm>
          <a:prstGeom prst="rect">
            <a:avLst/>
          </a:prstGeom>
          <a:solidFill>
            <a:srgbClr val="B046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6"/>
          <p:cNvSpPr/>
          <p:nvPr/>
        </p:nvSpPr>
        <p:spPr>
          <a:xfrm>
            <a:off x="1051560" y="2578680"/>
            <a:ext cx="28584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7181C"/>
                </a:solidFill>
                <a:latin typeface="Inter"/>
                <a:ea typeface="Inter"/>
              </a:rPr>
              <a:t>Recuperare slabă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 7"/>
          <p:cNvSpPr/>
          <p:nvPr/>
        </p:nvSpPr>
        <p:spPr>
          <a:xfrm>
            <a:off x="1051560" y="303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Contextul corect nu ajunge la model. Niciun LLM nu repară un context greșit.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8"/>
          <p:cNvSpPr/>
          <p:nvPr/>
        </p:nvSpPr>
        <p:spPr>
          <a:xfrm>
            <a:off x="4413600" y="237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9"/>
          <p:cNvSpPr/>
          <p:nvPr/>
        </p:nvSpPr>
        <p:spPr>
          <a:xfrm>
            <a:off x="4413600" y="2377440"/>
            <a:ext cx="40320" cy="1480680"/>
          </a:xfrm>
          <a:prstGeom prst="rect">
            <a:avLst/>
          </a:prstGeom>
          <a:solidFill>
            <a:srgbClr val="B046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10"/>
          <p:cNvSpPr/>
          <p:nvPr/>
        </p:nvSpPr>
        <p:spPr>
          <a:xfrm>
            <a:off x="4687920" y="2578680"/>
            <a:ext cx="28584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7181C"/>
                </a:solidFill>
                <a:latin typeface="Inter"/>
                <a:ea typeface="Inter"/>
              </a:rPr>
              <a:t>Chunking prost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 11"/>
          <p:cNvSpPr/>
          <p:nvPr/>
        </p:nvSpPr>
        <p:spPr>
          <a:xfrm>
            <a:off x="4687920" y="303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Bucăți care rup ideea sau o îneacă în zgomot strică totul din rădăcină.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12"/>
          <p:cNvSpPr/>
          <p:nvPr/>
        </p:nvSpPr>
        <p:spPr>
          <a:xfrm>
            <a:off x="8049600" y="237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13"/>
          <p:cNvSpPr/>
          <p:nvPr/>
        </p:nvSpPr>
        <p:spPr>
          <a:xfrm>
            <a:off x="8049600" y="2377440"/>
            <a:ext cx="40320" cy="1480680"/>
          </a:xfrm>
          <a:prstGeom prst="rect">
            <a:avLst/>
          </a:prstGeom>
          <a:solidFill>
            <a:srgbClr val="B046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14"/>
          <p:cNvSpPr/>
          <p:nvPr/>
        </p:nvSpPr>
        <p:spPr>
          <a:xfrm>
            <a:off x="8323920" y="2578680"/>
            <a:ext cx="28584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7181C"/>
                </a:solidFill>
                <a:latin typeface="Inter"/>
                <a:ea typeface="Inter"/>
              </a:rPr>
              <a:t>Lost in the middle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15"/>
          <p:cNvSpPr/>
          <p:nvPr/>
        </p:nvSpPr>
        <p:spPr>
          <a:xfrm>
            <a:off x="8323920" y="303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Contextul e acolo, dar îngropat la mijloc, modelul îl ignoră.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16"/>
          <p:cNvSpPr/>
          <p:nvPr/>
        </p:nvSpPr>
        <p:spPr>
          <a:xfrm>
            <a:off x="777240" y="408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17"/>
          <p:cNvSpPr/>
          <p:nvPr/>
        </p:nvSpPr>
        <p:spPr>
          <a:xfrm>
            <a:off x="777240" y="4087440"/>
            <a:ext cx="40320" cy="1480680"/>
          </a:xfrm>
          <a:prstGeom prst="rect">
            <a:avLst/>
          </a:prstGeom>
          <a:solidFill>
            <a:srgbClr val="B046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 18"/>
          <p:cNvSpPr/>
          <p:nvPr/>
        </p:nvSpPr>
        <p:spPr>
          <a:xfrm>
            <a:off x="1051560" y="4288680"/>
            <a:ext cx="28584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7181C"/>
                </a:solidFill>
                <a:latin typeface="Inter"/>
                <a:ea typeface="Inter"/>
              </a:rPr>
              <a:t>Index învechit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19"/>
          <p:cNvSpPr/>
          <p:nvPr/>
        </p:nvSpPr>
        <p:spPr>
          <a:xfrm>
            <a:off x="1051560" y="474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Ai schimbat documentele dar nu și indexul. Răspunzi din versiuni vechi.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20"/>
          <p:cNvSpPr/>
          <p:nvPr/>
        </p:nvSpPr>
        <p:spPr>
          <a:xfrm>
            <a:off x="4413600" y="408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21"/>
          <p:cNvSpPr/>
          <p:nvPr/>
        </p:nvSpPr>
        <p:spPr>
          <a:xfrm>
            <a:off x="4413600" y="4087440"/>
            <a:ext cx="40320" cy="1480680"/>
          </a:xfrm>
          <a:prstGeom prst="rect">
            <a:avLst/>
          </a:prstGeom>
          <a:solidFill>
            <a:srgbClr val="B046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 22"/>
          <p:cNvSpPr/>
          <p:nvPr/>
        </p:nvSpPr>
        <p:spPr>
          <a:xfrm>
            <a:off x="4687920" y="4288680"/>
            <a:ext cx="28584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7181C"/>
                </a:solidFill>
                <a:latin typeface="Inter"/>
                <a:ea typeface="Inter"/>
              </a:rPr>
              <a:t>Prompt fără reguli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 23"/>
          <p:cNvSpPr/>
          <p:nvPr/>
        </p:nvSpPr>
        <p:spPr>
          <a:xfrm>
            <a:off x="4687920" y="474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Nu-i spui „doar din context”, așa că modelul revine la memoria lui și inventează.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24"/>
          <p:cNvSpPr/>
          <p:nvPr/>
        </p:nvSpPr>
        <p:spPr>
          <a:xfrm>
            <a:off x="8049600" y="4087440"/>
            <a:ext cx="3361320" cy="1480680"/>
          </a:xfrm>
          <a:prstGeom prst="roundRect">
            <a:avLst>
              <a:gd name="adj" fmla="val 3704"/>
            </a:avLst>
          </a:prstGeom>
          <a:solidFill>
            <a:srgbClr val="FBFAF4"/>
          </a:solidFill>
          <a:ln w="1270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25"/>
          <p:cNvSpPr/>
          <p:nvPr/>
        </p:nvSpPr>
        <p:spPr>
          <a:xfrm>
            <a:off x="8049600" y="4087440"/>
            <a:ext cx="40320" cy="1480680"/>
          </a:xfrm>
          <a:prstGeom prst="rect">
            <a:avLst/>
          </a:prstGeom>
          <a:solidFill>
            <a:srgbClr val="B046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 26"/>
          <p:cNvSpPr/>
          <p:nvPr/>
        </p:nvSpPr>
        <p:spPr>
          <a:xfrm>
            <a:off x="8323920" y="4288680"/>
            <a:ext cx="28584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7181C"/>
                </a:solidFill>
                <a:latin typeface="Inter"/>
                <a:ea typeface="Inter"/>
              </a:rPr>
              <a:t>Fără evaluare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27"/>
          <p:cNvSpPr/>
          <p:nvPr/>
        </p:nvSpPr>
        <p:spPr>
          <a:xfrm>
            <a:off x="8323920" y="4745880"/>
            <a:ext cx="285840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C6B7A"/>
                </a:solidFill>
                <a:latin typeface="Inter"/>
                <a:ea typeface="Inter"/>
              </a:rPr>
              <a:t>Nu măsori, deci nu vezi când strici ceva. Mergi pe „pare că merge”.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28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29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25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III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EXEMPLU · PAS CU PAS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O întrebare prin tot sistemul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Hai să urmărim o singură întrebare, de la tastatură până la răspuns. Tot ce am văzut, într-un singur traseu.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4"/>
          <p:cNvSpPr/>
          <p:nvPr/>
        </p:nvSpPr>
        <p:spPr>
          <a:xfrm>
            <a:off x="777240" y="2523600"/>
            <a:ext cx="383400" cy="383400"/>
          </a:xfrm>
          <a:prstGeom prst="ellipse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5"/>
          <p:cNvSpPr/>
          <p:nvPr/>
        </p:nvSpPr>
        <p:spPr>
          <a:xfrm>
            <a:off x="777240" y="25236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1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6"/>
          <p:cNvSpPr/>
          <p:nvPr/>
        </p:nvSpPr>
        <p:spPr>
          <a:xfrm>
            <a:off x="969120" y="2907720"/>
            <a:ext cx="360" cy="292680"/>
          </a:xfrm>
          <a:prstGeom prst="line">
            <a:avLst/>
          </a:prstGeom>
          <a:ln w="1905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7"/>
          <p:cNvSpPr/>
          <p:nvPr/>
        </p:nvSpPr>
        <p:spPr>
          <a:xfrm>
            <a:off x="1371600" y="250560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7181C"/>
                </a:solidFill>
                <a:latin typeface="Inter"/>
                <a:ea typeface="Inter"/>
              </a:rPr>
              <a:t>Întrebarea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8"/>
          <p:cNvSpPr/>
          <p:nvPr/>
        </p:nvSpPr>
        <p:spPr>
          <a:xfrm>
            <a:off x="1371600" y="280728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F3A5F"/>
                </a:solidFill>
                <a:latin typeface="IBM Plex Mono"/>
                <a:ea typeface="IBM Plex Mono"/>
              </a:rPr>
              <a:t>→ embedding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9"/>
          <p:cNvSpPr/>
          <p:nvPr/>
        </p:nvSpPr>
        <p:spPr>
          <a:xfrm>
            <a:off x="3749040" y="2505600"/>
            <a:ext cx="12240" cy="45648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10"/>
          <p:cNvSpPr/>
          <p:nvPr/>
        </p:nvSpPr>
        <p:spPr>
          <a:xfrm>
            <a:off x="4023360" y="2468880"/>
            <a:ext cx="725040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Textul devine un vector: [0.12, −0.88, …]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11"/>
          <p:cNvSpPr/>
          <p:nvPr/>
        </p:nvSpPr>
        <p:spPr>
          <a:xfrm>
            <a:off x="777240" y="3200400"/>
            <a:ext cx="383400" cy="383400"/>
          </a:xfrm>
          <a:prstGeom prst="ellipse">
            <a:avLst/>
          </a:prstGeom>
          <a:solidFill>
            <a:srgbClr val="1F3A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12"/>
          <p:cNvSpPr/>
          <p:nvPr/>
        </p:nvSpPr>
        <p:spPr>
          <a:xfrm>
            <a:off x="777240" y="32004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2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13"/>
          <p:cNvSpPr/>
          <p:nvPr/>
        </p:nvSpPr>
        <p:spPr>
          <a:xfrm>
            <a:off x="969120" y="3584160"/>
            <a:ext cx="360" cy="292680"/>
          </a:xfrm>
          <a:prstGeom prst="line">
            <a:avLst/>
          </a:prstGeom>
          <a:ln w="1905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14"/>
          <p:cNvSpPr/>
          <p:nvPr/>
        </p:nvSpPr>
        <p:spPr>
          <a:xfrm>
            <a:off x="1371600" y="318204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7181C"/>
                </a:solidFill>
                <a:latin typeface="Inter"/>
                <a:ea typeface="Inter"/>
              </a:rPr>
              <a:t>Căutare ANN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15"/>
          <p:cNvSpPr/>
          <p:nvPr/>
        </p:nvSpPr>
        <p:spPr>
          <a:xfrm>
            <a:off x="1371600" y="34837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F3A5F"/>
                </a:solidFill>
                <a:latin typeface="IBM Plex Mono"/>
                <a:ea typeface="IBM Plex Mono"/>
              </a:rPr>
              <a:t>→ 20 candidați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16"/>
          <p:cNvSpPr/>
          <p:nvPr/>
        </p:nvSpPr>
        <p:spPr>
          <a:xfrm>
            <a:off x="3749040" y="3182040"/>
            <a:ext cx="12240" cy="45648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17"/>
          <p:cNvSpPr/>
          <p:nvPr/>
        </p:nvSpPr>
        <p:spPr>
          <a:xfrm>
            <a:off x="4023360" y="3145680"/>
            <a:ext cx="725040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Cele mai apropiate 20 de bucăți din documente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18"/>
          <p:cNvSpPr/>
          <p:nvPr/>
        </p:nvSpPr>
        <p:spPr>
          <a:xfrm>
            <a:off x="777240" y="3877200"/>
            <a:ext cx="383400" cy="383400"/>
          </a:xfrm>
          <a:prstGeom prst="ellipse">
            <a:avLst/>
          </a:prstGeom>
          <a:solidFill>
            <a:srgbClr val="A969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 19"/>
          <p:cNvSpPr/>
          <p:nvPr/>
        </p:nvSpPr>
        <p:spPr>
          <a:xfrm>
            <a:off x="777240" y="38772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3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20"/>
          <p:cNvSpPr/>
          <p:nvPr/>
        </p:nvSpPr>
        <p:spPr>
          <a:xfrm>
            <a:off x="969120" y="4260960"/>
            <a:ext cx="360" cy="292680"/>
          </a:xfrm>
          <a:prstGeom prst="line">
            <a:avLst/>
          </a:prstGeom>
          <a:ln w="1905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21"/>
          <p:cNvSpPr/>
          <p:nvPr/>
        </p:nvSpPr>
        <p:spPr>
          <a:xfrm>
            <a:off x="1371600" y="385884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7181C"/>
                </a:solidFill>
                <a:latin typeface="Inter"/>
                <a:ea typeface="Inter"/>
              </a:rPr>
              <a:t>Reranking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22"/>
          <p:cNvSpPr/>
          <p:nvPr/>
        </p:nvSpPr>
        <p:spPr>
          <a:xfrm>
            <a:off x="1371600" y="4160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9692A"/>
                </a:solidFill>
                <a:latin typeface="IBM Plex Mono"/>
                <a:ea typeface="IBM Plex Mono"/>
              </a:rPr>
              <a:t>→ top 3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23"/>
          <p:cNvSpPr/>
          <p:nvPr/>
        </p:nvSpPr>
        <p:spPr>
          <a:xfrm>
            <a:off x="3749040" y="3858840"/>
            <a:ext cx="12240" cy="45648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24"/>
          <p:cNvSpPr/>
          <p:nvPr/>
        </p:nvSpPr>
        <p:spPr>
          <a:xfrm>
            <a:off x="4023360" y="3822120"/>
            <a:ext cx="725040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Cross-encoder reordonează, păstrăm 3 cele mai bune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25"/>
          <p:cNvSpPr/>
          <p:nvPr/>
        </p:nvSpPr>
        <p:spPr>
          <a:xfrm>
            <a:off x="777240" y="4553640"/>
            <a:ext cx="383400" cy="383400"/>
          </a:xfrm>
          <a:prstGeom prst="ellipse">
            <a:avLst/>
          </a:prstGeom>
          <a:solidFill>
            <a:srgbClr val="A969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26"/>
          <p:cNvSpPr/>
          <p:nvPr/>
        </p:nvSpPr>
        <p:spPr>
          <a:xfrm>
            <a:off x="777240" y="45536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4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27"/>
          <p:cNvSpPr/>
          <p:nvPr/>
        </p:nvSpPr>
        <p:spPr>
          <a:xfrm>
            <a:off x="969120" y="4937760"/>
            <a:ext cx="360" cy="292320"/>
          </a:xfrm>
          <a:prstGeom prst="line">
            <a:avLst/>
          </a:prstGeom>
          <a:ln w="19050">
            <a:solidFill>
              <a:srgbClr val="D8D0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28"/>
          <p:cNvSpPr/>
          <p:nvPr/>
        </p:nvSpPr>
        <p:spPr>
          <a:xfrm>
            <a:off x="1371600" y="453528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7181C"/>
                </a:solidFill>
                <a:latin typeface="Inter"/>
                <a:ea typeface="Inter"/>
              </a:rPr>
              <a:t>Prompt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29"/>
          <p:cNvSpPr/>
          <p:nvPr/>
        </p:nvSpPr>
        <p:spPr>
          <a:xfrm>
            <a:off x="1371600" y="48373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9692A"/>
                </a:solidFill>
                <a:latin typeface="IBM Plex Mono"/>
                <a:ea typeface="IBM Plex Mono"/>
              </a:rPr>
              <a:t>→ context + întrebare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30"/>
          <p:cNvSpPr/>
          <p:nvPr/>
        </p:nvSpPr>
        <p:spPr>
          <a:xfrm>
            <a:off x="3749040" y="4535280"/>
            <a:ext cx="12240" cy="45648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31"/>
          <p:cNvSpPr/>
          <p:nvPr/>
        </p:nvSpPr>
        <p:spPr>
          <a:xfrm>
            <a:off x="4023360" y="4498920"/>
            <a:ext cx="725040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Bucățile + întrebarea, cu regula „doar din context”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32"/>
          <p:cNvSpPr/>
          <p:nvPr/>
        </p:nvSpPr>
        <p:spPr>
          <a:xfrm>
            <a:off x="777240" y="5230440"/>
            <a:ext cx="383400" cy="383400"/>
          </a:xfrm>
          <a:prstGeom prst="ellipse">
            <a:avLst/>
          </a:prstGeom>
          <a:solidFill>
            <a:srgbClr val="3E6B5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Text 33"/>
          <p:cNvSpPr/>
          <p:nvPr/>
        </p:nvSpPr>
        <p:spPr>
          <a:xfrm>
            <a:off x="777240" y="52304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5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Text 34"/>
          <p:cNvSpPr/>
          <p:nvPr/>
        </p:nvSpPr>
        <p:spPr>
          <a:xfrm>
            <a:off x="1371600" y="5212080"/>
            <a:ext cx="21938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17181C"/>
                </a:solidFill>
                <a:latin typeface="Inter"/>
                <a:ea typeface="Inter"/>
              </a:rPr>
              <a:t>LLM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 35"/>
          <p:cNvSpPr/>
          <p:nvPr/>
        </p:nvSpPr>
        <p:spPr>
          <a:xfrm>
            <a:off x="1371600" y="551376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3E6B5A"/>
                </a:solidFill>
                <a:latin typeface="IBM Plex Mono"/>
                <a:ea typeface="IBM Plex Mono"/>
              </a:rPr>
              <a:t>→ răspuns + sursă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36"/>
          <p:cNvSpPr/>
          <p:nvPr/>
        </p:nvSpPr>
        <p:spPr>
          <a:xfrm>
            <a:off x="3749040" y="5212080"/>
            <a:ext cx="12240" cy="45648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37"/>
          <p:cNvSpPr/>
          <p:nvPr/>
        </p:nvSpPr>
        <p:spPr>
          <a:xfrm>
            <a:off x="4023360" y="5175360"/>
            <a:ext cx="725040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C6B7A"/>
                </a:solidFill>
                <a:latin typeface="Inter"/>
                <a:ea typeface="Inter"/>
              </a:rPr>
              <a:t>„Returul e 30 de zile…” + linkul către document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38"/>
          <p:cNvSpPr/>
          <p:nvPr/>
        </p:nvSpPr>
        <p:spPr>
          <a:xfrm>
            <a:off x="6263640" y="1993320"/>
            <a:ext cx="5147280" cy="383400"/>
          </a:xfrm>
          <a:prstGeom prst="roundRect">
            <a:avLst>
              <a:gd name="adj" fmla="val 14286"/>
            </a:avLst>
          </a:prstGeom>
          <a:solidFill>
            <a:srgbClr val="EAE3D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 39"/>
          <p:cNvSpPr/>
          <p:nvPr/>
        </p:nvSpPr>
        <p:spPr>
          <a:xfrm>
            <a:off x="6263640" y="1993320"/>
            <a:ext cx="514728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„Care e politica de retur la electronice?”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40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41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26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Text 0"/>
          <p:cNvSpPr/>
          <p:nvPr/>
        </p:nvSpPr>
        <p:spPr>
          <a:xfrm>
            <a:off x="777240" y="457200"/>
            <a:ext cx="106336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197">
                <a:solidFill>
                  <a:srgbClr val="A9692A"/>
                </a:solidFill>
                <a:latin typeface="IBM Plex Mono"/>
                <a:ea typeface="IBM Plex Mono"/>
              </a:rPr>
              <a:t>IV  </a:t>
            </a:r>
            <a:r>
              <a:rPr lang="en-US" sz="1150" b="0" strike="noStrike" spc="197">
                <a:solidFill>
                  <a:srgbClr val="8A8270"/>
                </a:solidFill>
                <a:latin typeface="IBM Plex Mono"/>
                <a:ea typeface="IBM Plex Mono"/>
              </a:rPr>
              <a:t>/  FRONTIERA · AGENȚI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 1"/>
          <p:cNvSpPr/>
          <p:nvPr/>
        </p:nvSpPr>
        <p:spPr>
          <a:xfrm>
            <a:off x="749880" y="786240"/>
            <a:ext cx="106336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6000"/>
              </a:lnSpc>
              <a:tabLst>
                <a:tab pos="0" algn="l"/>
              </a:tabLst>
            </a:pPr>
            <a:r>
              <a:rPr lang="en-US" sz="38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De la căutare statică la recuperare agentică</a:t>
            </a:r>
            <a:endParaRPr lang="en-US" sz="3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2"/>
          <p:cNvSpPr/>
          <p:nvPr/>
        </p:nvSpPr>
        <p:spPr>
          <a:xfrm>
            <a:off x="777240" y="1481400"/>
            <a:ext cx="10633680" cy="122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3"/>
          <p:cNvSpPr/>
          <p:nvPr/>
        </p:nvSpPr>
        <p:spPr>
          <a:xfrm>
            <a:off x="777240" y="1591200"/>
            <a:ext cx="9691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C6B7A"/>
                </a:solidFill>
                <a:latin typeface="Inter"/>
                <a:ea typeface="Inter"/>
              </a:rPr>
              <a:t>RAG clasic recuperează o dată, apoi răspunde. Pasul următor: modelul decide singur CÂND, CE și de CÂTE ORI să caute. RAG devine doar prima treaptă.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4"/>
          <p:cNvSpPr/>
          <p:nvPr/>
        </p:nvSpPr>
        <p:spPr>
          <a:xfrm>
            <a:off x="1051560" y="3611880"/>
            <a:ext cx="10085040" cy="17640"/>
          </a:xfrm>
          <a:prstGeom prst="rect">
            <a:avLst/>
          </a:prstGeom>
          <a:solidFill>
            <a:srgbClr val="D8D0B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5"/>
          <p:cNvSpPr/>
          <p:nvPr/>
        </p:nvSpPr>
        <p:spPr>
          <a:xfrm>
            <a:off x="1884960" y="3493080"/>
            <a:ext cx="236880" cy="236880"/>
          </a:xfrm>
          <a:prstGeom prst="ellipse">
            <a:avLst/>
          </a:prstGeom>
          <a:solidFill>
            <a:srgbClr val="5C6B7A"/>
          </a:solidFill>
          <a:ln w="25400">
            <a:solidFill>
              <a:srgbClr val="F4F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Text 6"/>
          <p:cNvSpPr/>
          <p:nvPr/>
        </p:nvSpPr>
        <p:spPr>
          <a:xfrm>
            <a:off x="777240" y="2697480"/>
            <a:ext cx="24523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C6B7A"/>
                </a:solidFill>
                <a:latin typeface="IBM Plex Mono"/>
                <a:ea typeface="IBM Plex Mono"/>
              </a:rPr>
              <a:t>01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 7"/>
          <p:cNvSpPr/>
          <p:nvPr/>
        </p:nvSpPr>
        <p:spPr>
          <a:xfrm>
            <a:off x="777240" y="3931920"/>
            <a:ext cx="2452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Prompt simplu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8"/>
          <p:cNvSpPr/>
          <p:nvPr/>
        </p:nvSpPr>
        <p:spPr>
          <a:xfrm>
            <a:off x="868680" y="4480560"/>
            <a:ext cx="22694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9"/>
          <p:cNvSpPr/>
          <p:nvPr/>
        </p:nvSpPr>
        <p:spPr>
          <a:xfrm>
            <a:off x="4611960" y="3493080"/>
            <a:ext cx="236880" cy="236880"/>
          </a:xfrm>
          <a:prstGeom prst="ellipse">
            <a:avLst/>
          </a:prstGeom>
          <a:solidFill>
            <a:srgbClr val="C8843C"/>
          </a:solidFill>
          <a:ln w="25400">
            <a:solidFill>
              <a:srgbClr val="F4F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10"/>
          <p:cNvSpPr/>
          <p:nvPr/>
        </p:nvSpPr>
        <p:spPr>
          <a:xfrm>
            <a:off x="3504600" y="2697480"/>
            <a:ext cx="24523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8843C"/>
                </a:solidFill>
                <a:latin typeface="IBM Plex Mono"/>
                <a:ea typeface="IBM Plex Mono"/>
              </a:rPr>
              <a:t>02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 11"/>
          <p:cNvSpPr/>
          <p:nvPr/>
        </p:nvSpPr>
        <p:spPr>
          <a:xfrm>
            <a:off x="3504600" y="3931920"/>
            <a:ext cx="2452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RAG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 12"/>
          <p:cNvSpPr/>
          <p:nvPr/>
        </p:nvSpPr>
        <p:spPr>
          <a:xfrm>
            <a:off x="3596040" y="4480560"/>
            <a:ext cx="22694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13"/>
          <p:cNvSpPr/>
          <p:nvPr/>
        </p:nvSpPr>
        <p:spPr>
          <a:xfrm>
            <a:off x="7339320" y="3493080"/>
            <a:ext cx="236880" cy="236880"/>
          </a:xfrm>
          <a:prstGeom prst="ellipse">
            <a:avLst/>
          </a:prstGeom>
          <a:solidFill>
            <a:srgbClr val="A9692A"/>
          </a:solidFill>
          <a:ln w="25400">
            <a:solidFill>
              <a:srgbClr val="F4F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14"/>
          <p:cNvSpPr/>
          <p:nvPr/>
        </p:nvSpPr>
        <p:spPr>
          <a:xfrm>
            <a:off x="6231600" y="2697480"/>
            <a:ext cx="24523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A9692A"/>
                </a:solidFill>
                <a:latin typeface="IBM Plex Mono"/>
                <a:ea typeface="IBM Plex Mono"/>
              </a:rPr>
              <a:t>03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 15"/>
          <p:cNvSpPr/>
          <p:nvPr/>
        </p:nvSpPr>
        <p:spPr>
          <a:xfrm>
            <a:off x="6231600" y="3931920"/>
            <a:ext cx="2452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RAG iterativ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 16"/>
          <p:cNvSpPr/>
          <p:nvPr/>
        </p:nvSpPr>
        <p:spPr>
          <a:xfrm>
            <a:off x="6323040" y="4480560"/>
            <a:ext cx="22694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17"/>
          <p:cNvSpPr/>
          <p:nvPr/>
        </p:nvSpPr>
        <p:spPr>
          <a:xfrm>
            <a:off x="10066320" y="3493080"/>
            <a:ext cx="236880" cy="236880"/>
          </a:xfrm>
          <a:prstGeom prst="ellipse">
            <a:avLst/>
          </a:prstGeom>
          <a:solidFill>
            <a:srgbClr val="1F3A5F"/>
          </a:solidFill>
          <a:ln w="25400">
            <a:solidFill>
              <a:srgbClr val="F4F0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18"/>
          <p:cNvSpPr/>
          <p:nvPr/>
        </p:nvSpPr>
        <p:spPr>
          <a:xfrm>
            <a:off x="8958960" y="2697480"/>
            <a:ext cx="24523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F3A5F"/>
                </a:solidFill>
                <a:latin typeface="IBM Plex Mono"/>
                <a:ea typeface="IBM Plex Mono"/>
              </a:rPr>
              <a:t>04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19"/>
          <p:cNvSpPr/>
          <p:nvPr/>
        </p:nvSpPr>
        <p:spPr>
          <a:xfrm>
            <a:off x="8958960" y="3931920"/>
            <a:ext cx="24523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17181C"/>
                </a:solidFill>
                <a:latin typeface="DM Serif Display"/>
                <a:ea typeface="DM Serif Display"/>
              </a:rPr>
              <a:t>Recuperare agentică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 20"/>
          <p:cNvSpPr/>
          <p:nvPr/>
        </p:nvSpPr>
        <p:spPr>
          <a:xfrm>
            <a:off x="9050400" y="4480560"/>
            <a:ext cx="22694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 21"/>
          <p:cNvSpPr/>
          <p:nvPr/>
        </p:nvSpPr>
        <p:spPr>
          <a:xfrm>
            <a:off x="8074080" y="320040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22"/>
          <p:cNvSpPr/>
          <p:nvPr/>
        </p:nvSpPr>
        <p:spPr>
          <a:xfrm>
            <a:off x="777240" y="5074920"/>
            <a:ext cx="10633680" cy="776520"/>
          </a:xfrm>
          <a:prstGeom prst="roundRect">
            <a:avLst>
              <a:gd name="adj" fmla="val 7059"/>
            </a:avLst>
          </a:prstGeom>
          <a:solidFill>
            <a:srgbClr val="17181C"/>
          </a:solidFill>
          <a:ln w="12700">
            <a:solidFill>
              <a:srgbClr val="1718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Text 23"/>
          <p:cNvSpPr/>
          <p:nvPr/>
        </p:nvSpPr>
        <p:spPr>
          <a:xfrm>
            <a:off x="1143000" y="5074920"/>
            <a:ext cx="990216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C8843C"/>
                </a:solidFill>
                <a:latin typeface="Inter"/>
                <a:ea typeface="Inter"/>
              </a:rPr>
              <a:t>Firul roșu:  </a:t>
            </a:r>
            <a:r>
              <a:rPr lang="en-US" sz="1250" b="0" strike="noStrike" spc="-1">
                <a:solidFill>
                  <a:srgbClr val="C9C2B2"/>
                </a:solidFill>
                <a:latin typeface="Inter"/>
                <a:ea typeface="Inter"/>
              </a:rPr>
              <a:t>toate sunt forme de construcție a contextului. RAG nu e o tehnologie izolată, e prima treaptă pe scara prin care dăm modelului exact ce-i trebuie ca să raționeze.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24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8A8270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 25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17181C"/>
                </a:solidFill>
                <a:latin typeface="IBM Plex Mono"/>
                <a:ea typeface="IBM Plex Mono"/>
              </a:rPr>
              <a:t>27</a:t>
            </a:r>
            <a:r>
              <a:rPr lang="en-US" sz="850" b="0" strike="noStrike" spc="94">
                <a:solidFill>
                  <a:srgbClr val="8A8270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Shape 0"/>
          <p:cNvSpPr/>
          <p:nvPr/>
        </p:nvSpPr>
        <p:spPr>
          <a:xfrm>
            <a:off x="0" y="0"/>
            <a:ext cx="12188160" cy="5400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Shape 1"/>
          <p:cNvSpPr/>
          <p:nvPr/>
        </p:nvSpPr>
        <p:spPr>
          <a:xfrm>
            <a:off x="10058400" y="4480560"/>
            <a:ext cx="109080" cy="109080"/>
          </a:xfrm>
          <a:prstGeom prst="ellipse">
            <a:avLst/>
          </a:prstGeom>
          <a:solidFill>
            <a:srgbClr val="2C3038"/>
          </a:solidFill>
          <a:ln w="9525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Shape 2"/>
          <p:cNvSpPr/>
          <p:nvPr/>
        </p:nvSpPr>
        <p:spPr>
          <a:xfrm>
            <a:off x="10789920" y="4846320"/>
            <a:ext cx="109080" cy="109080"/>
          </a:xfrm>
          <a:prstGeom prst="ellipse">
            <a:avLst/>
          </a:prstGeom>
          <a:solidFill>
            <a:srgbClr val="C8843C"/>
          </a:solidFill>
          <a:ln w="9525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Shape 3"/>
          <p:cNvSpPr/>
          <p:nvPr/>
        </p:nvSpPr>
        <p:spPr>
          <a:xfrm>
            <a:off x="11338560" y="4297680"/>
            <a:ext cx="109080" cy="109080"/>
          </a:xfrm>
          <a:prstGeom prst="ellipse">
            <a:avLst/>
          </a:prstGeom>
          <a:solidFill>
            <a:srgbClr val="2C3038"/>
          </a:solidFill>
          <a:ln w="9525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Shape 4"/>
          <p:cNvSpPr/>
          <p:nvPr/>
        </p:nvSpPr>
        <p:spPr>
          <a:xfrm>
            <a:off x="9784080" y="5029200"/>
            <a:ext cx="109080" cy="109080"/>
          </a:xfrm>
          <a:prstGeom prst="ellipse">
            <a:avLst/>
          </a:prstGeom>
          <a:solidFill>
            <a:srgbClr val="C8843C"/>
          </a:solidFill>
          <a:ln w="9525">
            <a:solidFill>
              <a:srgbClr val="3A3E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Text 5"/>
          <p:cNvSpPr/>
          <p:nvPr/>
        </p:nvSpPr>
        <p:spPr>
          <a:xfrm>
            <a:off x="777240" y="251460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395">
                <a:solidFill>
                  <a:srgbClr val="C8843C"/>
                </a:solidFill>
                <a:latin typeface="IBM Plex Mono"/>
                <a:ea typeface="IBM Plex Mono"/>
              </a:rPr>
              <a:t>ÎNTREBĂRI &amp; DISCUȚII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Shape 6"/>
          <p:cNvSpPr/>
          <p:nvPr/>
        </p:nvSpPr>
        <p:spPr>
          <a:xfrm>
            <a:off x="777240" y="2926080"/>
            <a:ext cx="1828080" cy="19440"/>
          </a:xfrm>
          <a:prstGeom prst="rect">
            <a:avLst/>
          </a:prstGeom>
          <a:solidFill>
            <a:srgbClr val="C884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Text 7"/>
          <p:cNvSpPr/>
          <p:nvPr/>
        </p:nvSpPr>
        <p:spPr>
          <a:xfrm>
            <a:off x="722520" y="3154680"/>
            <a:ext cx="1005768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0" b="0" strike="noStrike" spc="-1">
                <a:solidFill>
                  <a:srgbClr val="FFFFFF"/>
                </a:solidFill>
                <a:latin typeface="DM Serif Display"/>
                <a:ea typeface="DM Serif Display"/>
              </a:rPr>
              <a:t>Mulțumim!</a:t>
            </a:r>
            <a:endParaRPr lang="en-US" sz="8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Text 8"/>
          <p:cNvSpPr/>
          <p:nvPr/>
        </p:nvSpPr>
        <p:spPr>
          <a:xfrm>
            <a:off x="777240" y="64008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145">
                <a:solidFill>
                  <a:srgbClr val="B7AF9C"/>
                </a:solidFill>
                <a:latin typeface="IBM Plex Mono"/>
                <a:ea typeface="IBM Plex Mono"/>
              </a:rPr>
              <a:t>RAG · CONSTRUCȚIA CONTEXTULUI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9"/>
          <p:cNvSpPr/>
          <p:nvPr/>
        </p:nvSpPr>
        <p:spPr>
          <a:xfrm>
            <a:off x="10360080" y="64008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94">
                <a:solidFill>
                  <a:srgbClr val="FFFFFF"/>
                </a:solidFill>
                <a:latin typeface="IBM Plex Mono"/>
                <a:ea typeface="IBM Plex Mono"/>
              </a:rPr>
              <a:t>28</a:t>
            </a:r>
            <a:r>
              <a:rPr lang="en-US" sz="850" b="0" strike="noStrike" spc="94">
                <a:solidFill>
                  <a:srgbClr val="B7AF9C"/>
                </a:solidFill>
                <a:latin typeface="IBM Plex Mono"/>
                <a:ea typeface="IBM Plex Mono"/>
              </a:rPr>
              <a:t> / 28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3071</Words>
  <Application>Microsoft Office PowerPoint</Application>
  <PresentationFormat>Custom</PresentationFormat>
  <Paragraphs>460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DM Serif Display</vt:lpstr>
      <vt:lpstr>IBM Plex Mono</vt:lpstr>
      <vt:lpstr>Inter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· Construcția contextului</dc:title>
  <dc:subject>PptxGenJS Presentation</dc:subject>
  <dc:creator>AI/ML Engineering</dc:creator>
  <dc:description/>
  <cp:lastModifiedBy>Aila Zeitouni</cp:lastModifiedBy>
  <cp:revision>8</cp:revision>
  <dcterms:created xsi:type="dcterms:W3CDTF">2026-05-31T17:28:58Z</dcterms:created>
  <dcterms:modified xsi:type="dcterms:W3CDTF">2026-06-01T17:29:35Z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28</vt:i4>
  </property>
  <property fmtid="{D5CDD505-2E9C-101B-9397-08002B2CF9AE}" pid="3" name="PresentationFormat">
    <vt:lpwstr>On-screen Show (16:9)</vt:lpwstr>
  </property>
  <property fmtid="{D5CDD505-2E9C-101B-9397-08002B2CF9AE}" pid="4" name="Slides">
    <vt:i4>28</vt:i4>
  </property>
</Properties>
</file>